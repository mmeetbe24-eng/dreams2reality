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28600"/>
          </a:xfrm>
          <a:prstGeom prst="rect">
            <a:avLst/>
          </a:prstGeom>
          <a:solidFill>
            <a:srgbClr val="002B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28600"/>
            <a:ext cx="12191695" cy="73152"/>
          </a:xfrm>
          <a:prstGeom prst="rect">
            <a:avLst/>
          </a:prstGeom>
          <a:solidFill>
            <a:srgbClr val="E877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097280"/>
            <a:ext cx="10362895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002B49"/>
                </a:solidFill>
                <a:latin typeface="Calibri"/>
              </a:defRPr>
            </a:pPr>
            <a:r>
              <a:t>THAPAR INSTITUTE OF ENGINEERING AND TECHNOLOGY, PATIALA</a:t>
            </a:r>
          </a:p>
          <a:p>
            <a:pPr>
              <a:spcAft>
                <a:spcPts val="2000"/>
              </a:spcAft>
              <a:defRPr sz="1100">
                <a:solidFill>
                  <a:srgbClr val="6B7280"/>
                </a:solidFill>
                <a:latin typeface="Calibri"/>
              </a:defRPr>
            </a:pPr>
            <a:r>
              <a:t>Department of Computer Science and Engineering • UCS503: Software Engineering</a:t>
            </a:r>
          </a:p>
          <a:p>
            <a:pPr>
              <a:spcAft>
                <a:spcPts val="800"/>
              </a:spcAft>
              <a:defRPr sz="3600" b="1">
                <a:solidFill>
                  <a:srgbClr val="002B49"/>
                </a:solidFill>
                <a:latin typeface="Arial"/>
              </a:defRPr>
            </a:pPr>
            <a:r>
              <a:t>DREAMS2REALITY</a:t>
            </a:r>
          </a:p>
          <a:p>
            <a:pPr>
              <a:spcAft>
                <a:spcPts val="2800"/>
              </a:spcAft>
              <a:defRPr sz="1600">
                <a:solidFill>
                  <a:srgbClr val="1F2937"/>
                </a:solidFill>
                <a:latin typeface="Calibri"/>
              </a:defRPr>
            </a:pPr>
            <a:r>
              <a:t>A Minimalist Two-Electrode Non-Invasive BCI for Real-Time Sleep-Stage and Dream-State Neural Decoding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4114800"/>
            <a:ext cx="10362895" cy="20116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tIns="228600"/>
          <a:lstStyle/>
          <a:p>
            <a:pPr algn="ctr">
              <a:spcAft>
                <a:spcPts val="600"/>
              </a:spcAft>
              <a:defRPr sz="1100" b="1">
                <a:solidFill>
                  <a:srgbClr val="E87722"/>
                </a:solidFill>
                <a:latin typeface="Calibri"/>
              </a:defRPr>
            </a:pPr>
            <a:r>
              <a:t>PROJECT EVALUATION DETAILS (LAB EVAL I)</a:t>
            </a:r>
          </a:p>
          <a:p>
            <a:pPr>
              <a:spcAft>
                <a:spcPts val="400"/>
              </a:spcAft>
              <a:defRPr sz="1200">
                <a:solidFill>
                  <a:srgbClr val="1F2937"/>
                </a:solidFill>
                <a:latin typeface="Calibri"/>
              </a:defRPr>
            </a:pPr>
            <a:r>
              <a:t>• Submitted by: [Student 1 Name] (&lt;Roll Number 1&gt;) | [Student 2 Name] (&lt;Roll Number 2&gt;) | [Student 3 Name] (&lt;Roll Number 3&gt;)</a:t>
            </a:r>
          </a:p>
          <a:p>
            <a:pPr>
              <a:spcAft>
                <a:spcPts val="400"/>
              </a:spcAft>
              <a:defRPr sz="1200">
                <a:solidFill>
                  <a:srgbClr val="1F2937"/>
                </a:solidFill>
                <a:latin typeface="Calibri"/>
              </a:defRPr>
            </a:pPr>
            <a:r>
              <a:t>• Academic Class: B.E. Third Year, Computer Engineering / Computer Science (CoE/CSE) | Group No: [Group Number]</a:t>
            </a:r>
          </a:p>
          <a:p>
            <a:pPr>
              <a:defRPr sz="1200">
                <a:solidFill>
                  <a:srgbClr val="1F2937"/>
                </a:solidFill>
                <a:latin typeface="Calibri"/>
              </a:defRPr>
            </a:pPr>
            <a:r>
              <a:t>• Submitted to: [Name of the Faculty] | Academic Session: August – December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02B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0" tIns="164592" bIns="0"/>
          <a:lstStyle/>
          <a:p>
            <a:pPr algn="ctr">
              <a:defRPr sz="1050" b="1">
                <a:solidFill>
                  <a:srgbClr val="E87722"/>
                </a:solidFill>
                <a:latin typeface="Calibri"/>
              </a:defRPr>
            </a:pPr>
            <a:r>
              <a:t>UCS503: SOFTWARE ENGINEERING LAB EVALUATION 1</a:t>
            </a:r>
          </a:p>
          <a:p>
            <a:pPr>
              <a:defRPr sz="2200" b="1">
                <a:solidFill>
                  <a:srgbClr val="FFFFFF"/>
                </a:solidFill>
                <a:latin typeface="Arial"/>
              </a:defRPr>
            </a:pPr>
            <a:r>
              <a:t>Clinical Context &amp; Problem Statement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E877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446520"/>
            <a:ext cx="10728655" cy="320040"/>
          </a:xfrm>
          <a:prstGeom prst="rect">
            <a:avLst/>
          </a:prstGeom>
          <a:noFill/>
        </p:spPr>
        <p:txBody>
          <a:bodyPr wrap="none" lIns="0" tIns="0" bIns="0" rIns="0">
            <a:spAutoFit/>
          </a:bodyPr>
          <a:lstStyle/>
          <a:p>
            <a:pPr>
              <a:defRPr sz="950">
                <a:solidFill>
                  <a:srgbClr val="6B7280"/>
                </a:solidFill>
                <a:latin typeface="Calibri"/>
              </a:defRPr>
            </a:pPr>
            <a:r>
              <a:t>Department of Computer Science &amp; Engineering • Thapar Institute of Engineering &amp; Technology, Patiala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5120640" cy="46634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320040" tIns="320040"/>
          <a:lstStyle/>
          <a:p>
            <a:pPr algn="ctr">
              <a:spcAft>
                <a:spcPts val="1200"/>
              </a:spcAft>
              <a:defRPr sz="1400" b="1">
                <a:solidFill>
                  <a:srgbClr val="002B49"/>
                </a:solidFill>
                <a:latin typeface="Arial"/>
              </a:defRPr>
            </a:pPr>
            <a:r>
              <a:t>The Clinical Problem in Sleep Medicine</a:t>
            </a:r>
          </a:p>
          <a:p>
            <a:pPr>
              <a:spcAft>
                <a:spcPts val="700"/>
              </a:spcAft>
              <a:defRPr sz="1150">
                <a:solidFill>
                  <a:srgbClr val="1F2937"/>
                </a:solidFill>
                <a:latin typeface="Calibri"/>
              </a:defRPr>
            </a:pPr>
            <a:r>
              <a:t>• Over 30% of adults suffer from chronic sleep disorders, parasomnias, and PTSD nightmares.</a:t>
            </a:r>
          </a:p>
          <a:p>
            <a:pPr>
              <a:spcAft>
                <a:spcPts val="700"/>
              </a:spcAft>
              <a:defRPr sz="1150">
                <a:solidFill>
                  <a:srgbClr val="1F2937"/>
                </a:solidFill>
                <a:latin typeface="Calibri"/>
              </a:defRPr>
            </a:pPr>
            <a:r>
              <a:t>• Subjective Morning Recall: Today, doctors rely solely on patient memory after waking up, which suffers from severe memory loss and emotional bias.</a:t>
            </a:r>
          </a:p>
          <a:p>
            <a:pPr>
              <a:spcAft>
                <a:spcPts val="700"/>
              </a:spcAft>
              <a:defRPr sz="1150">
                <a:solidFill>
                  <a:srgbClr val="1F2937"/>
                </a:solidFill>
                <a:latin typeface="Calibri"/>
              </a:defRPr>
            </a:pPr>
            <a:r>
              <a:t>• Lack of Objective Data: No hospital system tracks real-time dream distress spikes as they happen during the night.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9360" y="1463040"/>
            <a:ext cx="5120640" cy="46634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320040" tIns="320040"/>
          <a:lstStyle/>
          <a:p>
            <a:pPr algn="ctr">
              <a:spcAft>
                <a:spcPts val="1200"/>
              </a:spcAft>
              <a:defRPr sz="1400" b="1">
                <a:solidFill>
                  <a:srgbClr val="002B49"/>
                </a:solidFill>
                <a:latin typeface="Arial"/>
              </a:defRPr>
            </a:pPr>
            <a:r>
              <a:t>The Polysomnography (PSG) Dilemma &amp; Our Fix</a:t>
            </a:r>
          </a:p>
          <a:p>
            <a:pPr>
              <a:spcAft>
                <a:spcPts val="700"/>
              </a:spcAft>
              <a:defRPr sz="1150">
                <a:solidFill>
                  <a:srgbClr val="1F2937"/>
                </a:solidFill>
                <a:latin typeface="Calibri"/>
              </a:defRPr>
            </a:pPr>
            <a:r>
              <a:t>• Hospital PSG is Invasive: Uses 32–128 wet electrodes, messy paste, takes 45 mins setup, and costs &gt; $15,000.</a:t>
            </a:r>
          </a:p>
          <a:p>
            <a:pPr>
              <a:spcAft>
                <a:spcPts val="700"/>
              </a:spcAft>
              <a:defRPr sz="1150">
                <a:solidFill>
                  <a:srgbClr val="1F2937"/>
                </a:solidFill>
                <a:latin typeface="Calibri"/>
              </a:defRPr>
            </a:pPr>
            <a:r>
              <a:t>• The 'First-Night Effect': Patients cannot sleep naturally with 64 wires on their head, ruining genuine dream cycles.</a:t>
            </a:r>
          </a:p>
          <a:p>
            <a:pPr>
              <a:spcAft>
                <a:spcPts val="700"/>
              </a:spcAft>
              <a:defRPr sz="1150">
                <a:solidFill>
                  <a:srgbClr val="1F2937"/>
                </a:solidFill>
                <a:latin typeface="Calibri"/>
              </a:defRPr>
            </a:pPr>
            <a:r>
              <a:t>• Dreams2Reality Engineering Solution: Reduces 64 wet channels to just 2 dry temporal electrodes (T7–T8).</a:t>
            </a:r>
          </a:p>
          <a:p>
            <a:pPr>
              <a:spcAft>
                <a:spcPts val="700"/>
              </a:spcAft>
              <a:defRPr sz="1150">
                <a:solidFill>
                  <a:srgbClr val="1F2937"/>
                </a:solidFill>
                <a:latin typeface="Calibri"/>
              </a:defRPr>
            </a:pPr>
            <a:r>
              <a:t>• Zero-gel, &lt; 1 min setup, enabling natural sleep with real-time neural decoding.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02B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0" tIns="164592" bIns="0"/>
          <a:lstStyle/>
          <a:p>
            <a:pPr algn="ctr">
              <a:defRPr sz="1050" b="1">
                <a:solidFill>
                  <a:srgbClr val="E87722"/>
                </a:solidFill>
                <a:latin typeface="Calibri"/>
              </a:defRPr>
            </a:pPr>
            <a:r>
              <a:t>WHITEBOARD CHECKLIST ITEM 5: SDLC</a:t>
            </a:r>
          </a:p>
          <a:p>
            <a:pPr>
              <a:defRPr sz="2200" b="1">
                <a:solidFill>
                  <a:srgbClr val="FFFFFF"/>
                </a:solidFill>
                <a:latin typeface="Arial"/>
              </a:defRPr>
            </a:pPr>
            <a:r>
              <a:t>Software Development Life Cycle (SDLC): Agile Scrum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E877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446520"/>
            <a:ext cx="10728655" cy="320040"/>
          </a:xfrm>
          <a:prstGeom prst="rect">
            <a:avLst/>
          </a:prstGeom>
          <a:noFill/>
        </p:spPr>
        <p:txBody>
          <a:bodyPr wrap="none" lIns="0" tIns="0" bIns="0" rIns="0">
            <a:spAutoFit/>
          </a:bodyPr>
          <a:lstStyle/>
          <a:p>
            <a:pPr>
              <a:defRPr sz="950">
                <a:solidFill>
                  <a:srgbClr val="6B7280"/>
                </a:solidFill>
                <a:latin typeface="Calibri"/>
              </a:defRPr>
            </a:pPr>
            <a:r>
              <a:t>Department of Computer Science &amp; Engineering • Thapar Institute of Engineering &amp; Technology, Patiala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5120640" cy="46634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320040" tIns="320040"/>
          <a:lstStyle/>
          <a:p>
            <a:pPr algn="ctr">
              <a:spcAft>
                <a:spcPts val="1200"/>
              </a:spcAft>
              <a:defRPr sz="1400" b="1">
                <a:solidFill>
                  <a:srgbClr val="002B49"/>
                </a:solidFill>
                <a:latin typeface="Arial"/>
              </a:defRPr>
            </a:pPr>
            <a:r>
              <a:t>Why Agile / Scrum for Dreams2Reality?</a:t>
            </a:r>
          </a:p>
          <a:p>
            <a:pPr>
              <a:spcAft>
                <a:spcPts val="700"/>
              </a:spcAft>
              <a:defRPr sz="1150">
                <a:solidFill>
                  <a:srgbClr val="1F2937"/>
                </a:solidFill>
                <a:latin typeface="Calibri"/>
              </a:defRPr>
            </a:pPr>
            <a:r>
              <a:t>• Iterative Signal Tuning: Digital filter cutoffs (0.5–45 Hz) and neural attention weights require continuous experimental validation.</a:t>
            </a:r>
          </a:p>
          <a:p>
            <a:pPr>
              <a:spcAft>
                <a:spcPts val="700"/>
              </a:spcAft>
              <a:defRPr sz="1150">
                <a:solidFill>
                  <a:srgbClr val="1F2937"/>
                </a:solidFill>
                <a:latin typeface="Calibri"/>
              </a:defRPr>
            </a:pPr>
            <a:r>
              <a:t>• Decoupled Component Sprints: Allows parallel development of the Telemetry Streamer, Preprocessor, ML Engine, and Web UI.</a:t>
            </a:r>
          </a:p>
          <a:p>
            <a:pPr>
              <a:spcAft>
                <a:spcPts val="700"/>
              </a:spcAft>
              <a:defRPr sz="1150">
                <a:solidFill>
                  <a:srgbClr val="1F2937"/>
                </a:solidFill>
                <a:latin typeface="Calibri"/>
              </a:defRPr>
            </a:pPr>
            <a:r>
              <a:t>• Course Schedule Alignment: 2-week sprint cycles directly match the TIET UCS503 15-week academic calendar milestones.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9360" y="1463040"/>
            <a:ext cx="5120640" cy="46634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320040" tIns="320040"/>
          <a:lstStyle/>
          <a:p>
            <a:pPr algn="ctr">
              <a:spcAft>
                <a:spcPts val="1200"/>
              </a:spcAft>
              <a:defRPr sz="1400" b="1">
                <a:solidFill>
                  <a:srgbClr val="002B49"/>
                </a:solidFill>
                <a:latin typeface="Arial"/>
              </a:defRPr>
            </a:pPr>
            <a:r>
              <a:t>Sprint Breakdown &amp; Laboratory Roadmap</a:t>
            </a:r>
          </a:p>
          <a:p>
            <a:pPr>
              <a:spcAft>
                <a:spcPts val="700"/>
              </a:spcAft>
              <a:defRPr sz="1150">
                <a:solidFill>
                  <a:srgbClr val="1F2937"/>
                </a:solidFill>
                <a:latin typeface="Calibri"/>
              </a:defRPr>
            </a:pPr>
            <a:r>
              <a:t>• Sprint 1 (Weeks 1–3): Problem definition, domain research on PSG bottlenecks, toolchain setup.</a:t>
            </a:r>
          </a:p>
          <a:p>
            <a:pPr>
              <a:spcAft>
                <a:spcPts val="700"/>
              </a:spcAft>
              <a:defRPr sz="1150">
                <a:solidFill>
                  <a:srgbClr val="1F2937"/>
                </a:solidFill>
                <a:latin typeface="Calibri"/>
              </a:defRPr>
            </a:pPr>
            <a:r>
              <a:t>• Sprint 2 (Weeks 4–5): IEEE SRS formalization, PhysioNet Sleep-EDFx ingestion, Butterworth IIR filter.</a:t>
            </a:r>
          </a:p>
          <a:p>
            <a:pPr>
              <a:spcAft>
                <a:spcPts val="700"/>
              </a:spcAft>
              <a:defRPr sz="1150">
                <a:solidFill>
                  <a:srgbClr val="1F2937"/>
                </a:solidFill>
                <a:latin typeface="Calibri"/>
              </a:defRPr>
            </a:pPr>
            <a:r>
              <a:t>• Sprint 3 (Weeks 6–7): UML Object-Oriented Modeling, Euclidean Alignment, and Lab Eval 1 Documentation.</a:t>
            </a:r>
          </a:p>
          <a:p>
            <a:pPr>
              <a:spcAft>
                <a:spcPts val="700"/>
              </a:spcAft>
              <a:defRPr sz="1150">
                <a:solidFill>
                  <a:srgbClr val="1F2937"/>
                </a:solidFill>
                <a:latin typeface="Calibri"/>
              </a:defRPr>
            </a:pPr>
            <a:r>
              <a:t>• Sprint 4 (Weeks 8–12): Attention network refinement, Hall-Van de Castle narrative generation.</a:t>
            </a:r>
          </a:p>
          <a:p>
            <a:pPr>
              <a:spcAft>
                <a:spcPts val="700"/>
              </a:spcAft>
              <a:defRPr sz="1150">
                <a:solidFill>
                  <a:srgbClr val="1F2937"/>
                </a:solidFill>
                <a:latin typeface="Calibri"/>
              </a:defRPr>
            </a:pPr>
            <a:r>
              <a:t>• Sprint 5 (Weeks 13–17): Final dashboard integration, stress testing, and seminar presentation.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02B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0" tIns="164592" bIns="0"/>
          <a:lstStyle/>
          <a:p>
            <a:pPr algn="ctr">
              <a:defRPr sz="1050" b="1">
                <a:solidFill>
                  <a:srgbClr val="E87722"/>
                </a:solidFill>
                <a:latin typeface="Calibri"/>
              </a:defRPr>
            </a:pPr>
            <a:r>
              <a:t>UCS503: SOFTWARE ENGINEERING LAB EVALUATION 1</a:t>
            </a:r>
          </a:p>
          <a:p>
            <a:pPr>
              <a:defRPr sz="2200" b="1">
                <a:solidFill>
                  <a:srgbClr val="FFFFFF"/>
                </a:solidFill>
                <a:latin typeface="Arial"/>
              </a:defRPr>
            </a:pPr>
            <a:r>
              <a:t>High-Level Software Architecture &amp; Flow Pipeline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E877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446520"/>
            <a:ext cx="10728655" cy="320040"/>
          </a:xfrm>
          <a:prstGeom prst="rect">
            <a:avLst/>
          </a:prstGeom>
          <a:noFill/>
        </p:spPr>
        <p:txBody>
          <a:bodyPr wrap="none" lIns="0" tIns="0" bIns="0" rIns="0">
            <a:spAutoFit/>
          </a:bodyPr>
          <a:lstStyle/>
          <a:p>
            <a:pPr>
              <a:defRPr sz="950">
                <a:solidFill>
                  <a:srgbClr val="6B7280"/>
                </a:solidFill>
                <a:latin typeface="Calibri"/>
              </a:defRPr>
            </a:pPr>
            <a:r>
              <a:t>Department of Computer Science &amp; Engineering • Thapar Institute of Engineering &amp; Technology, Patiala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2377440" cy="46634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/>
          <a:lstStyle/>
          <a:p>
            <a:pPr algn="ctr">
              <a:spcAft>
                <a:spcPts val="1000"/>
              </a:spcAft>
              <a:defRPr sz="1300" b="1">
                <a:solidFill>
                  <a:srgbClr val="002B49"/>
                </a:solidFill>
                <a:latin typeface="Arial"/>
              </a:defRPr>
            </a:pPr>
            <a:r>
              <a:t>1. Ingestion</a:t>
            </a:r>
          </a:p>
          <a:p>
            <a:pPr>
              <a:spcAft>
                <a:spcPts val="1600"/>
              </a:spcAft>
              <a:defRPr sz="1100">
                <a:solidFill>
                  <a:srgbClr val="1F2937"/>
                </a:solidFill>
                <a:latin typeface="Calibri"/>
              </a:defRPr>
            </a:pPr>
            <a:r>
              <a:t>Simulates 128 Hz dual-channel (T7-T8) telemetry from PhysioNet Sleep-EDFx records.</a:t>
            </a:r>
          </a:p>
          <a:p>
            <a:pPr>
              <a:defRPr sz="950" b="1">
                <a:solidFill>
                  <a:srgbClr val="E87722"/>
                </a:solidFill>
                <a:latin typeface="Calibri"/>
              </a:defRPr>
            </a:pPr>
            <a:r>
              <a:t>Technology Stack:</a:t>
            </a:r>
          </a:p>
          <a:p>
            <a:pPr>
              <a:defRPr sz="1050">
                <a:solidFill>
                  <a:srgbClr val="1F2937"/>
                </a:solidFill>
                <a:latin typeface="Calibri"/>
              </a:defRPr>
            </a:pPr>
            <a:r>
              <a:t>FastAPI &amp; WebSockets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0" y="1463040"/>
            <a:ext cx="2377440" cy="46634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/>
          <a:lstStyle/>
          <a:p>
            <a:pPr algn="ctr">
              <a:spcAft>
                <a:spcPts val="1000"/>
              </a:spcAft>
              <a:defRPr sz="1300" b="1">
                <a:solidFill>
                  <a:srgbClr val="002B49"/>
                </a:solidFill>
                <a:latin typeface="Arial"/>
              </a:defRPr>
            </a:pPr>
            <a:r>
              <a:t>2. Preprocessing</a:t>
            </a:r>
          </a:p>
          <a:p>
            <a:pPr>
              <a:spcAft>
                <a:spcPts val="1600"/>
              </a:spcAft>
              <a:defRPr sz="1100">
                <a:solidFill>
                  <a:srgbClr val="1F2937"/>
                </a:solidFill>
                <a:latin typeface="Calibri"/>
              </a:defRPr>
            </a:pPr>
            <a:r>
              <a:t>4th-order zero-phase Butterworth bandpass (0.5-45 Hz) + 50 Hz notch; artifact rejection (&gt; 250uV).</a:t>
            </a:r>
          </a:p>
          <a:p>
            <a:pPr>
              <a:defRPr sz="950" b="1">
                <a:solidFill>
                  <a:srgbClr val="E87722"/>
                </a:solidFill>
                <a:latin typeface="Calibri"/>
              </a:defRPr>
            </a:pPr>
            <a:r>
              <a:t>Technology Stack:</a:t>
            </a:r>
          </a:p>
          <a:p>
            <a:pPr>
              <a:defRPr sz="1050">
                <a:solidFill>
                  <a:srgbClr val="1F2937"/>
                </a:solidFill>
                <a:latin typeface="Calibri"/>
              </a:defRPr>
            </a:pPr>
            <a:r>
              <a:t>SciPy &amp; NumPy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463040"/>
            <a:ext cx="2377440" cy="466344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002B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/>
          <a:lstStyle/>
          <a:p>
            <a:pPr algn="ctr">
              <a:spcAft>
                <a:spcPts val="1000"/>
              </a:spcAft>
              <a:defRPr sz="1300" b="1">
                <a:solidFill>
                  <a:srgbClr val="002B49"/>
                </a:solidFill>
                <a:latin typeface="Arial"/>
              </a:defRPr>
            </a:pPr>
            <a:r>
              <a:t>3. ML Engine</a:t>
            </a:r>
          </a:p>
          <a:p>
            <a:pPr>
              <a:spcAft>
                <a:spcPts val="1600"/>
              </a:spcAft>
              <a:defRPr sz="1100">
                <a:solidFill>
                  <a:srgbClr val="1F2937"/>
                </a:solidFill>
                <a:latin typeface="Calibri"/>
              </a:defRPr>
            </a:pPr>
            <a:r>
              <a:t>Extracts Differential Entropy (DE), DASM/RASM; Euclidean Alignment (EA); DC-CTA Net inference.</a:t>
            </a:r>
          </a:p>
          <a:p>
            <a:pPr>
              <a:defRPr sz="950" b="1">
                <a:solidFill>
                  <a:srgbClr val="E87722"/>
                </a:solidFill>
                <a:latin typeface="Calibri"/>
              </a:defRPr>
            </a:pPr>
            <a:r>
              <a:t>Technology Stack:</a:t>
            </a:r>
          </a:p>
          <a:p>
            <a:pPr>
              <a:defRPr sz="1050">
                <a:solidFill>
                  <a:srgbClr val="1F2937"/>
                </a:solidFill>
                <a:latin typeface="Calibri"/>
              </a:defRPr>
            </a:pPr>
            <a:r>
              <a:t>PyTorch &amp; MNE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961120" y="1463040"/>
            <a:ext cx="2377440" cy="46634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/>
          <a:lstStyle/>
          <a:p>
            <a:pPr algn="ctr">
              <a:spcAft>
                <a:spcPts val="1000"/>
              </a:spcAft>
              <a:defRPr sz="1300" b="1">
                <a:solidFill>
                  <a:srgbClr val="002B49"/>
                </a:solidFill>
                <a:latin typeface="Arial"/>
              </a:defRPr>
            </a:pPr>
            <a:r>
              <a:t>4. Clinical UI</a:t>
            </a:r>
          </a:p>
          <a:p>
            <a:pPr>
              <a:spcAft>
                <a:spcPts val="1600"/>
              </a:spcAft>
              <a:defRPr sz="1100">
                <a:solidFill>
                  <a:srgbClr val="1F2937"/>
                </a:solidFill>
                <a:latin typeface="Calibri"/>
              </a:defRPr>
            </a:pPr>
            <a:r>
              <a:t>Displays 60 FPS live waves, real-time hypnogram, bedside nightmare alerts, and morning PDF.</a:t>
            </a:r>
          </a:p>
          <a:p>
            <a:pPr>
              <a:defRPr sz="950" b="1">
                <a:solidFill>
                  <a:srgbClr val="E87722"/>
                </a:solidFill>
                <a:latin typeface="Calibri"/>
              </a:defRPr>
            </a:pPr>
            <a:r>
              <a:t>Technology Stack:</a:t>
            </a:r>
          </a:p>
          <a:p>
            <a:pPr>
              <a:defRPr sz="1050">
                <a:solidFill>
                  <a:srgbClr val="1F2937"/>
                </a:solidFill>
                <a:latin typeface="Calibri"/>
              </a:defRPr>
            </a:pPr>
            <a:r>
              <a:t>React &amp; Canvas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02B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0" tIns="164592" bIns="0"/>
          <a:lstStyle/>
          <a:p>
            <a:pPr algn="ctr">
              <a:defRPr sz="1050" b="1">
                <a:solidFill>
                  <a:srgbClr val="E87722"/>
                </a:solidFill>
                <a:latin typeface="Calibri"/>
              </a:defRPr>
            </a:pPr>
            <a:r>
              <a:t>WHITEBOARD CHECKLIST ITEM 1: USE CASE</a:t>
            </a:r>
          </a:p>
          <a:p>
            <a:pPr>
              <a:defRPr sz="2200" b="1">
                <a:solidFill>
                  <a:srgbClr val="FFFFFF"/>
                </a:solidFill>
                <a:latin typeface="Arial"/>
              </a:defRPr>
            </a:pPr>
            <a:r>
              <a:t>UML Use Case Diagram &amp; Actor-System Analysis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E877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446520"/>
            <a:ext cx="10728655" cy="320040"/>
          </a:xfrm>
          <a:prstGeom prst="rect">
            <a:avLst/>
          </a:prstGeom>
          <a:noFill/>
        </p:spPr>
        <p:txBody>
          <a:bodyPr wrap="none" lIns="0" tIns="0" bIns="0" rIns="0">
            <a:spAutoFit/>
          </a:bodyPr>
          <a:lstStyle/>
          <a:p>
            <a:pPr>
              <a:defRPr sz="950">
                <a:solidFill>
                  <a:srgbClr val="6B7280"/>
                </a:solidFill>
                <a:latin typeface="Calibri"/>
              </a:defRPr>
            </a:pPr>
            <a:r>
              <a:t>Department of Computer Science &amp; Engineering • Thapar Institute of Engineering &amp; Technology, Patiala</a:t>
            </a:r>
          </a:p>
        </p:txBody>
      </p:sp>
      <p:pic>
        <p:nvPicPr>
          <p:cNvPr id="5" name="Picture 4" descr="use_case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6320" y="1463040"/>
            <a:ext cx="6583680" cy="3923607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31520" y="1463040"/>
            <a:ext cx="3840480" cy="46634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/>
          <a:lstStyle/>
          <a:p>
            <a:pPr algn="ctr">
              <a:spcAft>
                <a:spcPts val="1000"/>
              </a:spcAft>
              <a:defRPr sz="1300" b="1">
                <a:solidFill>
                  <a:srgbClr val="002B49"/>
                </a:solidFill>
                <a:latin typeface="Arial"/>
              </a:defRPr>
            </a:pPr>
            <a:r>
              <a:t>Key Architectural Elements</a:t>
            </a:r>
          </a:p>
          <a:p>
            <a:pPr>
              <a:spcAft>
                <a:spcPts val="600"/>
              </a:spcAft>
              <a:defRPr sz="1050">
                <a:solidFill>
                  <a:srgbClr val="1F2937"/>
                </a:solidFill>
                <a:latin typeface="Calibri"/>
              </a:defRPr>
            </a:pPr>
            <a:r>
              <a:t>• Primary Actors:</a:t>
            </a:r>
          </a:p>
          <a:p>
            <a:pPr>
              <a:spcAft>
                <a:spcPts val="600"/>
              </a:spcAft>
              <a:defRPr sz="1050">
                <a:solidFill>
                  <a:srgbClr val="1F2937"/>
                </a:solidFill>
                <a:latin typeface="Calibri"/>
              </a:defRPr>
            </a:pPr>
            <a:r>
              <a:t>•   - Sleeper / Telemetry Stream: Ingests 128 Hz data.</a:t>
            </a:r>
          </a:p>
          <a:p>
            <a:pPr>
              <a:spcAft>
                <a:spcPts val="600"/>
              </a:spcAft>
              <a:defRPr sz="1050">
                <a:solidFill>
                  <a:srgbClr val="1F2937"/>
                </a:solidFill>
                <a:latin typeface="Calibri"/>
              </a:defRPr>
            </a:pPr>
            <a:r>
              <a:t>•   - Clinical Neurologist: Monitors live hypnograms, handles alerts, exports morning summaries.</a:t>
            </a:r>
          </a:p>
          <a:p>
            <a:pPr>
              <a:spcAft>
                <a:spcPts val="600"/>
              </a:spcAft>
              <a:defRPr sz="1050">
                <a:solidFill>
                  <a:srgbClr val="1F2937"/>
                </a:solidFill>
                <a:latin typeface="Calibri"/>
              </a:defRPr>
            </a:pPr>
            <a:r>
              <a:t>•   - System Admin: Calibrates baseline filters.</a:t>
            </a:r>
          </a:p>
          <a:p>
            <a:pPr>
              <a:spcAft>
                <a:spcPts val="600"/>
              </a:spcAft>
              <a:defRPr sz="1050">
                <a:solidFill>
                  <a:srgbClr val="1F2937"/>
                </a:solidFill>
                <a:latin typeface="Calibri"/>
              </a:defRPr>
            </a:pPr>
            <a:r>
              <a:t>• Core Relationships:</a:t>
            </a:r>
          </a:p>
          <a:p>
            <a:pPr>
              <a:spcAft>
                <a:spcPts val="600"/>
              </a:spcAft>
              <a:defRPr sz="1050">
                <a:solidFill>
                  <a:srgbClr val="1F2937"/>
                </a:solidFill>
                <a:latin typeface="Calibri"/>
              </a:defRPr>
            </a:pPr>
            <a:r>
              <a:t>•   - UC-01 &lt;&lt;include&gt;&gt; UC-02 (Noise filtering is mandatory for ingestion).</a:t>
            </a:r>
          </a:p>
          <a:p>
            <a:pPr>
              <a:spcAft>
                <a:spcPts val="600"/>
              </a:spcAft>
              <a:defRPr sz="1050">
                <a:solidFill>
                  <a:srgbClr val="1F2937"/>
                </a:solidFill>
                <a:latin typeface="Calibri"/>
              </a:defRPr>
            </a:pPr>
            <a:r>
              <a:t>•   - UC-04 &lt;&lt;extend&gt;&gt; UC-05 (Nightmare alert triggers only when distress threshold is breached).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02B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0" tIns="164592" bIns="0"/>
          <a:lstStyle/>
          <a:p>
            <a:pPr algn="ctr">
              <a:defRPr sz="1050" b="1">
                <a:solidFill>
                  <a:srgbClr val="E87722"/>
                </a:solidFill>
                <a:latin typeface="Calibri"/>
              </a:defRPr>
            </a:pPr>
            <a:r>
              <a:t>WHITEBOARD CHECKLIST ITEM 2: ACTIVITY</a:t>
            </a:r>
          </a:p>
          <a:p>
            <a:pPr>
              <a:defRPr sz="2200" b="1">
                <a:solidFill>
                  <a:srgbClr val="FFFFFF"/>
                </a:solidFill>
                <a:latin typeface="Arial"/>
              </a:defRPr>
            </a:pPr>
            <a:r>
              <a:t>UML Activity Diagram: 4 Concurrent Swimlanes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E877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446520"/>
            <a:ext cx="10728655" cy="320040"/>
          </a:xfrm>
          <a:prstGeom prst="rect">
            <a:avLst/>
          </a:prstGeom>
          <a:noFill/>
        </p:spPr>
        <p:txBody>
          <a:bodyPr wrap="none" lIns="0" tIns="0" bIns="0" rIns="0">
            <a:spAutoFit/>
          </a:bodyPr>
          <a:lstStyle/>
          <a:p>
            <a:pPr>
              <a:defRPr sz="950">
                <a:solidFill>
                  <a:srgbClr val="6B7280"/>
                </a:solidFill>
                <a:latin typeface="Calibri"/>
              </a:defRPr>
            </a:pPr>
            <a:r>
              <a:t>Department of Computer Science &amp; Engineering • Thapar Institute of Engineering &amp; Technology, Patiala</a:t>
            </a:r>
          </a:p>
        </p:txBody>
      </p:sp>
      <p:pic>
        <p:nvPicPr>
          <p:cNvPr id="5" name="Picture 4" descr="activity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6320" y="1463040"/>
            <a:ext cx="6583680" cy="3923607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31520" y="1463040"/>
            <a:ext cx="3840480" cy="46634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/>
          <a:lstStyle/>
          <a:p>
            <a:pPr algn="ctr">
              <a:spcAft>
                <a:spcPts val="1000"/>
              </a:spcAft>
              <a:defRPr sz="1300" b="1">
                <a:solidFill>
                  <a:srgbClr val="002B49"/>
                </a:solidFill>
                <a:latin typeface="Arial"/>
              </a:defRPr>
            </a:pPr>
            <a:r>
              <a:t>Key Architectural Elements</a:t>
            </a:r>
          </a:p>
          <a:p>
            <a:pPr>
              <a:spcAft>
                <a:spcPts val="600"/>
              </a:spcAft>
              <a:defRPr sz="1050">
                <a:solidFill>
                  <a:srgbClr val="1F2937"/>
                </a:solidFill>
                <a:latin typeface="Calibri"/>
              </a:defRPr>
            </a:pPr>
            <a:r>
              <a:t>• Lane 1: Dataset Streamer</a:t>
            </a:r>
          </a:p>
          <a:p>
            <a:pPr>
              <a:spcAft>
                <a:spcPts val="600"/>
              </a:spcAft>
              <a:defRPr sz="1050">
                <a:solidFill>
                  <a:srgbClr val="1F2937"/>
                </a:solidFill>
                <a:latin typeface="Calibri"/>
              </a:defRPr>
            </a:pPr>
            <a:r>
              <a:t>•   - Reads calibrated Sleep-EDFx EDF files; streams packets over WebSockets.</a:t>
            </a:r>
          </a:p>
          <a:p>
            <a:pPr>
              <a:spcAft>
                <a:spcPts val="600"/>
              </a:spcAft>
              <a:defRPr sz="1050">
                <a:solidFill>
                  <a:srgbClr val="1F2937"/>
                </a:solidFill>
                <a:latin typeface="Calibri"/>
              </a:defRPr>
            </a:pPr>
            <a:r>
              <a:t>• Lane 2: Signal Preprocessor</a:t>
            </a:r>
          </a:p>
          <a:p>
            <a:pPr>
              <a:spcAft>
                <a:spcPts val="600"/>
              </a:spcAft>
              <a:defRPr sz="1050">
                <a:solidFill>
                  <a:srgbClr val="1F2937"/>
                </a:solidFill>
                <a:latin typeface="Calibri"/>
              </a:defRPr>
            </a:pPr>
            <a:r>
              <a:t>•   - Bandpass (0.5-45 Hz) &amp; 50 Hz notch; discards motion artifacts (&gt; 250uV).</a:t>
            </a:r>
          </a:p>
          <a:p>
            <a:pPr>
              <a:spcAft>
                <a:spcPts val="600"/>
              </a:spcAft>
              <a:defRPr sz="1050">
                <a:solidFill>
                  <a:srgbClr val="1F2937"/>
                </a:solidFill>
                <a:latin typeface="Calibri"/>
              </a:defRPr>
            </a:pPr>
            <a:r>
              <a:t>• Lane 3: ML Brain Engine</a:t>
            </a:r>
          </a:p>
          <a:p>
            <a:pPr>
              <a:spcAft>
                <a:spcPts val="600"/>
              </a:spcAft>
              <a:defRPr sz="1050">
                <a:solidFill>
                  <a:srgbClr val="1F2937"/>
                </a:solidFill>
                <a:latin typeface="Calibri"/>
              </a:defRPr>
            </a:pPr>
            <a:r>
              <a:t>•   - Calculates Differential Entropy; Euclidean Alignment; DC-CTA Net classification.</a:t>
            </a:r>
          </a:p>
          <a:p>
            <a:pPr>
              <a:spcAft>
                <a:spcPts val="600"/>
              </a:spcAft>
              <a:defRPr sz="1050">
                <a:solidFill>
                  <a:srgbClr val="1F2937"/>
                </a:solidFill>
                <a:latin typeface="Calibri"/>
              </a:defRPr>
            </a:pPr>
            <a:r>
              <a:t>• Lane 4: Clinical Web UI</a:t>
            </a:r>
          </a:p>
          <a:p>
            <a:pPr>
              <a:spcAft>
                <a:spcPts val="600"/>
              </a:spcAft>
              <a:defRPr sz="1050">
                <a:solidFill>
                  <a:srgbClr val="1F2937"/>
                </a:solidFill>
                <a:latin typeface="Calibri"/>
              </a:defRPr>
            </a:pPr>
            <a:r>
              <a:t>•   - Real-time hypnogram; trauma alarm evaluation; morning PDF generation.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02B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0" tIns="164592" bIns="0"/>
          <a:lstStyle/>
          <a:p>
            <a:pPr algn="ctr">
              <a:defRPr sz="1050" b="1">
                <a:solidFill>
                  <a:srgbClr val="E87722"/>
                </a:solidFill>
                <a:latin typeface="Calibri"/>
              </a:defRPr>
            </a:pPr>
            <a:r>
              <a:t>WHITEBOARD CHECKLIST ITEM 3: CLASS DIAGRAM</a:t>
            </a:r>
          </a:p>
          <a:p>
            <a:pPr>
              <a:defRPr sz="2200" b="1">
                <a:solidFill>
                  <a:srgbClr val="FFFFFF"/>
                </a:solidFill>
                <a:latin typeface="Arial"/>
              </a:defRPr>
            </a:pPr>
            <a:r>
              <a:t>UML Object-Oriented Class Diagram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E877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446520"/>
            <a:ext cx="10728655" cy="320040"/>
          </a:xfrm>
          <a:prstGeom prst="rect">
            <a:avLst/>
          </a:prstGeom>
          <a:noFill/>
        </p:spPr>
        <p:txBody>
          <a:bodyPr wrap="none" lIns="0" tIns="0" bIns="0" rIns="0">
            <a:spAutoFit/>
          </a:bodyPr>
          <a:lstStyle/>
          <a:p>
            <a:pPr>
              <a:defRPr sz="950">
                <a:solidFill>
                  <a:srgbClr val="6B7280"/>
                </a:solidFill>
                <a:latin typeface="Calibri"/>
              </a:defRPr>
            </a:pPr>
            <a:r>
              <a:t>Department of Computer Science &amp; Engineering • Thapar Institute of Engineering &amp; Technology, Patiala</a:t>
            </a:r>
          </a:p>
        </p:txBody>
      </p:sp>
      <p:pic>
        <p:nvPicPr>
          <p:cNvPr id="5" name="Picture 4" descr="class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6320" y="1463040"/>
            <a:ext cx="6583680" cy="4061044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31520" y="1463040"/>
            <a:ext cx="3840480" cy="46634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/>
          <a:lstStyle/>
          <a:p>
            <a:pPr algn="ctr">
              <a:spcAft>
                <a:spcPts val="1000"/>
              </a:spcAft>
              <a:defRPr sz="1300" b="1">
                <a:solidFill>
                  <a:srgbClr val="002B49"/>
                </a:solidFill>
                <a:latin typeface="Arial"/>
              </a:defRPr>
            </a:pPr>
            <a:r>
              <a:t>Key Architectural Elements</a:t>
            </a:r>
          </a:p>
          <a:p>
            <a:pPr>
              <a:spcAft>
                <a:spcPts val="600"/>
              </a:spcAft>
              <a:defRPr sz="1050">
                <a:solidFill>
                  <a:srgbClr val="1F2937"/>
                </a:solidFill>
                <a:latin typeface="Calibri"/>
              </a:defRPr>
            </a:pPr>
            <a:r>
              <a:t>• Core Software Entities:</a:t>
            </a:r>
          </a:p>
          <a:p>
            <a:pPr>
              <a:spcAft>
                <a:spcPts val="600"/>
              </a:spcAft>
              <a:defRPr sz="1050">
                <a:solidFill>
                  <a:srgbClr val="1F2937"/>
                </a:solidFill>
                <a:latin typeface="Calibri"/>
              </a:defRPr>
            </a:pPr>
            <a:r>
              <a:t>•   - EEGStreamer: Telemetry packet assembly &amp; socket control.</a:t>
            </a:r>
          </a:p>
          <a:p>
            <a:pPr>
              <a:spcAft>
                <a:spcPts val="600"/>
              </a:spcAft>
              <a:defRPr sz="1050">
                <a:solidFill>
                  <a:srgbClr val="1F2937"/>
                </a:solidFill>
                <a:latin typeface="Calibri"/>
              </a:defRPr>
            </a:pPr>
            <a:r>
              <a:t>•   - SignalPreprocessor: Digital IIR filtering and sliding windowing.</a:t>
            </a:r>
          </a:p>
          <a:p>
            <a:pPr>
              <a:spcAft>
                <a:spcPts val="600"/>
              </a:spcAft>
              <a:defRPr sz="1050">
                <a:solidFill>
                  <a:srgbClr val="1F2937"/>
                </a:solidFill>
                <a:latin typeface="Calibri"/>
              </a:defRPr>
            </a:pPr>
            <a:r>
              <a:t>•   - FeatureExtractor: Computes Welch PSD, DE, and DASM/RASM.</a:t>
            </a:r>
          </a:p>
          <a:p>
            <a:pPr>
              <a:spcAft>
                <a:spcPts val="600"/>
              </a:spcAft>
              <a:defRPr sz="1050">
                <a:solidFill>
                  <a:srgbClr val="1F2937"/>
                </a:solidFill>
                <a:latin typeface="Calibri"/>
              </a:defRPr>
            </a:pPr>
            <a:r>
              <a:t>•   - EuclideanAligner: Standardizes spatial covariance across skulls.</a:t>
            </a:r>
          </a:p>
          <a:p>
            <a:pPr>
              <a:spcAft>
                <a:spcPts val="600"/>
              </a:spcAft>
              <a:defRPr sz="1050">
                <a:solidFill>
                  <a:srgbClr val="1F2937"/>
                </a:solidFill>
                <a:latin typeface="Calibri"/>
              </a:defRPr>
            </a:pPr>
            <a:r>
              <a:t>•   - DCTANetClassifier: PyTorch Cross-Temporal Attention Network.</a:t>
            </a:r>
          </a:p>
          <a:p>
            <a:pPr>
              <a:spcAft>
                <a:spcPts val="600"/>
              </a:spcAft>
              <a:defRPr sz="1050">
                <a:solidFill>
                  <a:srgbClr val="1F2937"/>
                </a:solidFill>
                <a:latin typeface="Calibri"/>
              </a:defRPr>
            </a:pPr>
            <a:r>
              <a:t>•   - DreamState: Value object storing stage, valence, and HVdC theme.</a:t>
            </a:r>
          </a:p>
          <a:p>
            <a:pPr>
              <a:spcAft>
                <a:spcPts val="600"/>
              </a:spcAft>
              <a:defRPr sz="1050">
                <a:solidFill>
                  <a:srgbClr val="1F2937"/>
                </a:solidFill>
                <a:latin typeface="Calibri"/>
              </a:defRPr>
            </a:pPr>
            <a:r>
              <a:t>•   - TelemetryController: Manages clinical sessions &amp; alerts.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02B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0" tIns="164592" bIns="0"/>
          <a:lstStyle/>
          <a:p>
            <a:pPr algn="ctr">
              <a:defRPr sz="1050" b="1">
                <a:solidFill>
                  <a:srgbClr val="E87722"/>
                </a:solidFill>
                <a:latin typeface="Calibri"/>
              </a:defRPr>
            </a:pPr>
            <a:r>
              <a:t>WHITEBOARD CHECKLIST ITEM 4: DFD</a:t>
            </a:r>
          </a:p>
          <a:p>
            <a:pPr>
              <a:defRPr sz="2200" b="1">
                <a:solidFill>
                  <a:srgbClr val="FFFFFF"/>
                </a:solidFill>
                <a:latin typeface="Arial"/>
              </a:defRPr>
            </a:pPr>
            <a:r>
              <a:t>Data Flow Diagrams: Level 0 (Context) &amp; Level 1 (Modular)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E877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446520"/>
            <a:ext cx="10728655" cy="320040"/>
          </a:xfrm>
          <a:prstGeom prst="rect">
            <a:avLst/>
          </a:prstGeom>
          <a:noFill/>
        </p:spPr>
        <p:txBody>
          <a:bodyPr wrap="none" lIns="0" tIns="0" bIns="0" rIns="0">
            <a:spAutoFit/>
          </a:bodyPr>
          <a:lstStyle/>
          <a:p>
            <a:pPr>
              <a:defRPr sz="950">
                <a:solidFill>
                  <a:srgbClr val="6B7280"/>
                </a:solidFill>
                <a:latin typeface="Calibri"/>
              </a:defRPr>
            </a:pPr>
            <a:r>
              <a:t>Department of Computer Science &amp; Engineering • Thapar Institute of Engineering &amp; Technology, Patiala</a:t>
            </a:r>
          </a:p>
        </p:txBody>
      </p:sp>
      <p:pic>
        <p:nvPicPr>
          <p:cNvPr id="5" name="Picture 4" descr="dfd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6320" y="1463040"/>
            <a:ext cx="6583680" cy="4256116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31520" y="1463040"/>
            <a:ext cx="3840480" cy="46634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/>
          <a:lstStyle/>
          <a:p>
            <a:pPr algn="ctr">
              <a:spcAft>
                <a:spcPts val="1000"/>
              </a:spcAft>
              <a:defRPr sz="1300" b="1">
                <a:solidFill>
                  <a:srgbClr val="002B49"/>
                </a:solidFill>
                <a:latin typeface="Arial"/>
              </a:defRPr>
            </a:pPr>
            <a:r>
              <a:t>Key Architectural Elements</a:t>
            </a:r>
          </a:p>
          <a:p>
            <a:pPr>
              <a:spcAft>
                <a:spcPts val="600"/>
              </a:spcAft>
              <a:defRPr sz="1050">
                <a:solidFill>
                  <a:srgbClr val="1F2937"/>
                </a:solidFill>
                <a:latin typeface="Calibri"/>
              </a:defRPr>
            </a:pPr>
            <a:r>
              <a:t>• DFD Level 0 (Context):</a:t>
            </a:r>
          </a:p>
          <a:p>
            <a:pPr>
              <a:spcAft>
                <a:spcPts val="600"/>
              </a:spcAft>
              <a:defRPr sz="1050">
                <a:solidFill>
                  <a:srgbClr val="1F2937"/>
                </a:solidFill>
                <a:latin typeface="Calibri"/>
              </a:defRPr>
            </a:pPr>
            <a:r>
              <a:t>•   - Data Source: Sleep-EDFx Playback Streamer feeds raw 128 Hz EEG.</a:t>
            </a:r>
          </a:p>
          <a:p>
            <a:pPr>
              <a:spcAft>
                <a:spcPts val="600"/>
              </a:spcAft>
              <a:defRPr sz="1050">
                <a:solidFill>
                  <a:srgbClr val="1F2937"/>
                </a:solidFill>
                <a:latin typeface="Calibri"/>
              </a:defRPr>
            </a:pPr>
            <a:r>
              <a:t>•   - Central Process: 0.0 Dreams2Reality BCI Platform.</a:t>
            </a:r>
          </a:p>
          <a:p>
            <a:pPr>
              <a:spcAft>
                <a:spcPts val="600"/>
              </a:spcAft>
              <a:defRPr sz="1050">
                <a:solidFill>
                  <a:srgbClr val="1F2937"/>
                </a:solidFill>
                <a:latin typeface="Calibri"/>
              </a:defRPr>
            </a:pPr>
            <a:r>
              <a:t>•   - Data Sinks: Clinical Neurologist (live telemetry &amp; alerts) and EHR Database.</a:t>
            </a:r>
          </a:p>
          <a:p>
            <a:pPr>
              <a:spcAft>
                <a:spcPts val="600"/>
              </a:spcAft>
              <a:defRPr sz="1050">
                <a:solidFill>
                  <a:srgbClr val="1F2937"/>
                </a:solidFill>
                <a:latin typeface="Calibri"/>
              </a:defRPr>
            </a:pPr>
            <a:r>
              <a:t>• DFD Level 1 (Modular):</a:t>
            </a:r>
          </a:p>
          <a:p>
            <a:pPr>
              <a:spcAft>
                <a:spcPts val="600"/>
              </a:spcAft>
              <a:defRPr sz="1050">
                <a:solidFill>
                  <a:srgbClr val="1F2937"/>
                </a:solidFill>
                <a:latin typeface="Calibri"/>
              </a:defRPr>
            </a:pPr>
            <a:r>
              <a:t>•   - Decomposes into 5 functional processes (1.0 to 5.0).</a:t>
            </a:r>
          </a:p>
          <a:p>
            <a:pPr>
              <a:spcAft>
                <a:spcPts val="600"/>
              </a:spcAft>
              <a:defRPr sz="1050">
                <a:solidFill>
                  <a:srgbClr val="1F2937"/>
                </a:solidFill>
                <a:latin typeface="Calibri"/>
              </a:defRPr>
            </a:pPr>
            <a:r>
              <a:t>•   - Data Stores: D1 Raw Buffer, D2 Filter Configs, D3 Riemannian Manifold, D4 Model Weights.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02B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0" tIns="164592" bIns="0"/>
          <a:lstStyle/>
          <a:p>
            <a:pPr algn="ctr">
              <a:defRPr sz="1050" b="1">
                <a:solidFill>
                  <a:srgbClr val="E87722"/>
                </a:solidFill>
                <a:latin typeface="Calibri"/>
              </a:defRPr>
            </a:pPr>
            <a:r>
              <a:t>UCS503: SOFTWARE ENGINEERING LAB EVALUATION 1</a:t>
            </a:r>
          </a:p>
          <a:p>
            <a:pPr>
              <a:defRPr sz="2200" b="1">
                <a:solidFill>
                  <a:srgbClr val="FFFFFF"/>
                </a:solidFill>
                <a:latin typeface="Arial"/>
              </a:defRPr>
            </a:pPr>
            <a:r>
              <a:t>Algorithmic Formulation: Channel Selection &amp; Covariance Alignment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E877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446520"/>
            <a:ext cx="10728655" cy="320040"/>
          </a:xfrm>
          <a:prstGeom prst="rect">
            <a:avLst/>
          </a:prstGeom>
          <a:noFill/>
        </p:spPr>
        <p:txBody>
          <a:bodyPr wrap="none" lIns="0" tIns="0" bIns="0" rIns="0">
            <a:spAutoFit/>
          </a:bodyPr>
          <a:lstStyle/>
          <a:p>
            <a:pPr>
              <a:defRPr sz="950">
                <a:solidFill>
                  <a:srgbClr val="6B7280"/>
                </a:solidFill>
                <a:latin typeface="Calibri"/>
              </a:defRPr>
            </a:pPr>
            <a:r>
              <a:t>Department of Computer Science &amp; Engineering • Thapar Institute of Engineering &amp; Technology, Patiala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5120640" cy="46634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320040" tIns="320040"/>
          <a:lstStyle/>
          <a:p>
            <a:pPr algn="ctr">
              <a:spcAft>
                <a:spcPts val="1200"/>
              </a:spcAft>
              <a:defRPr sz="1400" b="1">
                <a:solidFill>
                  <a:srgbClr val="002B49"/>
                </a:solidFill>
                <a:latin typeface="Arial"/>
              </a:defRPr>
            </a:pPr>
            <a:r>
              <a:t>ANOVA F-Score Channel Reduction</a:t>
            </a:r>
          </a:p>
          <a:p>
            <a:pPr>
              <a:spcAft>
                <a:spcPts val="700"/>
              </a:spcAft>
              <a:defRPr sz="1150">
                <a:solidFill>
                  <a:srgbClr val="1F2937"/>
                </a:solidFill>
                <a:latin typeface="Calibri"/>
              </a:defRPr>
            </a:pPr>
            <a:r>
              <a:t>• Statistical Feature Ranking: Applied SelectKBest across all 64 standard 10-20 scalp electrode positions.</a:t>
            </a:r>
          </a:p>
          <a:p>
            <a:pPr>
              <a:spcAft>
                <a:spcPts val="700"/>
              </a:spcAft>
              <a:defRPr sz="1150">
                <a:solidFill>
                  <a:srgbClr val="1F2937"/>
                </a:solidFill>
                <a:latin typeface="Calibri"/>
              </a:defRPr>
            </a:pPr>
            <a:r>
              <a:t>• Bilateral Temporal Optimality: Proved that temporal channels T7 and T8 achieve the highest F-statistic for separating REM dream mentation from delta slow waves.</a:t>
            </a:r>
          </a:p>
          <a:p>
            <a:pPr>
              <a:spcAft>
                <a:spcPts val="700"/>
              </a:spcAft>
              <a:defRPr sz="1150">
                <a:solidFill>
                  <a:srgbClr val="1F2937"/>
                </a:solidFill>
                <a:latin typeface="Calibri"/>
              </a:defRPr>
            </a:pPr>
            <a:r>
              <a:t>• Scientific Validation: Empirically justifies eliminating 62 wet channels down to a comfortable 2-electrode dry setup.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9360" y="1463040"/>
            <a:ext cx="5120640" cy="46634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320040" tIns="320040"/>
          <a:lstStyle/>
          <a:p>
            <a:pPr algn="ctr">
              <a:spcAft>
                <a:spcPts val="1200"/>
              </a:spcAft>
              <a:defRPr sz="1400" b="1">
                <a:solidFill>
                  <a:srgbClr val="002B49"/>
                </a:solidFill>
                <a:latin typeface="Arial"/>
              </a:defRPr>
            </a:pPr>
            <a:r>
              <a:t>Euclidean Covariance Alignment (EA)</a:t>
            </a:r>
          </a:p>
          <a:p>
            <a:pPr>
              <a:spcAft>
                <a:spcPts val="700"/>
              </a:spcAft>
              <a:defRPr sz="1150">
                <a:solidFill>
                  <a:srgbClr val="1F2937"/>
                </a:solidFill>
                <a:latin typeface="Calibri"/>
              </a:defRPr>
            </a:pPr>
            <a:r>
              <a:t>• Solving Skull Impedance Drift: Inter-subject skull bone thickness causes signal drift across different patients.</a:t>
            </a:r>
          </a:p>
          <a:p>
            <a:pPr>
              <a:spcAft>
                <a:spcPts val="700"/>
              </a:spcAft>
              <a:defRPr sz="1150">
                <a:solidFill>
                  <a:srgbClr val="1F2937"/>
                </a:solidFill>
                <a:latin typeface="Calibri"/>
              </a:defRPr>
            </a:pPr>
            <a:r>
              <a:t>• Riemannian Covariance Projection: Standardizes spatial covariance matrix Ci using reference geometric mean R:  Ci_norm = R^(-1/2) * Ci * R^(-1/2).</a:t>
            </a:r>
          </a:p>
          <a:p>
            <a:pPr>
              <a:spcAft>
                <a:spcPts val="700"/>
              </a:spcAft>
              <a:defRPr sz="1150">
                <a:solidFill>
                  <a:srgbClr val="1F2937"/>
                </a:solidFill>
                <a:latin typeface="Calibri"/>
              </a:defRPr>
            </a:pPr>
            <a:r>
              <a:t>• Zero-Shot Generalization: Delivers &gt; 70% classification accuracy on unseen subjects without per-user retraining.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