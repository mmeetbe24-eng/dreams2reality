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8600"/>
            <a:ext cx="12191695" cy="73152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103628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02B49"/>
                </a:solidFill>
                <a:latin typeface="Calibri"/>
              </a:defRPr>
            </a:pPr>
            <a:r>
              <a:t>THAPAR INSTITUTE OF ENGINEERING AND TECHNOLOGY, PATIALA</a:t>
            </a:r>
          </a:p>
          <a:p>
            <a:pPr>
              <a:spcAft>
                <a:spcPts val="20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Department of Computer Science and Engineering • UCS503: Software Engineering</a:t>
            </a:r>
          </a:p>
          <a:p>
            <a:pPr>
              <a:spcAft>
                <a:spcPts val="800"/>
              </a:spcAft>
              <a:defRPr sz="3600" b="1">
                <a:solidFill>
                  <a:srgbClr val="002B49"/>
                </a:solidFill>
                <a:latin typeface="Arial"/>
              </a:defRPr>
            </a:pPr>
            <a:r>
              <a:t>DREAMS2REALITY</a:t>
            </a:r>
          </a:p>
          <a:p>
            <a:pPr>
              <a:spcAft>
                <a:spcPts val="28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A Minimalist Two-Electrode Non-Invasive BCI for Real-Time Sleep-Stage and Dream-State Neural Decoding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114800"/>
            <a:ext cx="10362895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28600"/>
          <a:lstStyle/>
          <a:p>
            <a:pPr algn="ctr">
              <a:spcAft>
                <a:spcPts val="600"/>
              </a:spcAft>
              <a:defRPr sz="1100" b="1">
                <a:solidFill>
                  <a:srgbClr val="E87722"/>
                </a:solidFill>
                <a:latin typeface="Calibri"/>
              </a:defRPr>
            </a:pPr>
            <a:r>
              <a:t>PROJECT EVALUATION DETAILS (LAB EVAL I)</a:t>
            </a:r>
          </a:p>
          <a:p>
            <a:pPr>
              <a:spcAft>
                <a:spcPts val="4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• Submitted by: [Student 1 Name] (&lt;Roll Number 1&gt;) | [Student 2 Name] (&lt;Roll Number 2&gt;) | [Student 3 Name] (&lt;Roll Number 3&gt;)</a:t>
            </a:r>
          </a:p>
          <a:p>
            <a:pPr>
              <a:spcAft>
                <a:spcPts val="4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• Academic Class: B.E. Third Year, Computer Engineering / Computer Science (CoE/CSE) | Group No: [Group Number]</a:t>
            </a:r>
          </a:p>
          <a:p>
            <a:pPr>
              <a:defRPr sz="1200">
                <a:solidFill>
                  <a:srgbClr val="1F2937"/>
                </a:solidFill>
                <a:latin typeface="Calibri"/>
              </a:defRPr>
            </a:pPr>
            <a:r>
              <a:t>• Submitted to: [Name of the Faculty] | Academic Session: August – December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 bIns="0"/>
          <a:lstStyle/>
          <a:p>
            <a:pPr algn="ctr">
              <a:defRPr sz="1050" b="1">
                <a:solidFill>
                  <a:srgbClr val="E87722"/>
                </a:solidFill>
                <a:latin typeface="Calibri"/>
              </a:defRPr>
            </a:pPr>
            <a:r>
              <a:t>UCS503: SOFTWARE ENGINEERING LAB EVALUATION 1</a:t>
            </a:r>
          </a:p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Clinical Context &amp; 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950">
                <a:solidFill>
                  <a:srgbClr val="6B7280"/>
                </a:solidFill>
                <a:latin typeface="Calibri"/>
              </a:defRPr>
            </a:pPr>
            <a:r>
              <a:t>Department of Computer Science &amp; Engineering • Thapar Institute of Engineering &amp; Technology, Patiala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200"/>
              </a:spcAft>
              <a:defRPr sz="1400" b="1">
                <a:solidFill>
                  <a:srgbClr val="002B49"/>
                </a:solidFill>
                <a:latin typeface="Arial"/>
              </a:defRPr>
            </a:pPr>
            <a:r>
              <a:t>The Clinical Problem in Sleep Medicine</a:t>
            </a:r>
          </a:p>
          <a:p>
            <a:pPr>
              <a:spcAft>
                <a:spcPts val="700"/>
              </a:spcAft>
              <a:defRPr sz="1150">
                <a:solidFill>
                  <a:srgbClr val="1F2937"/>
                </a:solidFill>
                <a:latin typeface="Calibri"/>
              </a:defRPr>
            </a:pPr>
            <a:r>
              <a:t>• Over 30% of adults suffer from chronic sleep disorders, parasomnias, and PTSD nightmares.</a:t>
            </a:r>
          </a:p>
          <a:p>
            <a:pPr>
              <a:spcAft>
                <a:spcPts val="700"/>
              </a:spcAft>
              <a:defRPr sz="1150">
                <a:solidFill>
                  <a:srgbClr val="1F2937"/>
                </a:solidFill>
                <a:latin typeface="Calibri"/>
              </a:defRPr>
            </a:pPr>
            <a:r>
              <a:t>• Subjective Morning Recall: Today, doctors rely solely on patient memory after waking up, which suffers from severe memory loss and emotional bias.</a:t>
            </a:r>
          </a:p>
          <a:p>
            <a:pPr>
              <a:spcAft>
                <a:spcPts val="700"/>
              </a:spcAft>
              <a:defRPr sz="1150">
                <a:solidFill>
                  <a:srgbClr val="1F2937"/>
                </a:solidFill>
                <a:latin typeface="Calibri"/>
              </a:defRPr>
            </a:pPr>
            <a:r>
              <a:t>• Lack of Objective Data: No hospital system tracks real-time dream distress spikes as they happen during the night.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63040"/>
            <a:ext cx="512064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200"/>
              </a:spcAft>
              <a:defRPr sz="1400" b="1">
                <a:solidFill>
                  <a:srgbClr val="002B49"/>
                </a:solidFill>
                <a:latin typeface="Arial"/>
              </a:defRPr>
            </a:pPr>
            <a:r>
              <a:t>The Polysomnography (PSG) Dilemma &amp; Our Fix</a:t>
            </a:r>
          </a:p>
          <a:p>
            <a:pPr>
              <a:spcAft>
                <a:spcPts val="700"/>
              </a:spcAft>
              <a:defRPr sz="1150">
                <a:solidFill>
                  <a:srgbClr val="1F2937"/>
                </a:solidFill>
                <a:latin typeface="Calibri"/>
              </a:defRPr>
            </a:pPr>
            <a:r>
              <a:t>• Hospital PSG is Invasive: Uses 32–128 wet electrodes, messy paste, takes 45 mins setup, and costs &gt; $15,000.</a:t>
            </a:r>
          </a:p>
          <a:p>
            <a:pPr>
              <a:spcAft>
                <a:spcPts val="700"/>
              </a:spcAft>
              <a:defRPr sz="1150">
                <a:solidFill>
                  <a:srgbClr val="1F2937"/>
                </a:solidFill>
                <a:latin typeface="Calibri"/>
              </a:defRPr>
            </a:pPr>
            <a:r>
              <a:t>• The 'First-Night Effect': Patients cannot sleep naturally with 64 wires on their head, ruining genuine dream cycles.</a:t>
            </a:r>
          </a:p>
          <a:p>
            <a:pPr>
              <a:spcAft>
                <a:spcPts val="700"/>
              </a:spcAft>
              <a:defRPr sz="1150">
                <a:solidFill>
                  <a:srgbClr val="1F2937"/>
                </a:solidFill>
                <a:latin typeface="Calibri"/>
              </a:defRPr>
            </a:pPr>
            <a:r>
              <a:t>• Dreams2Reality Engineering Solution: Reduces 64 wet channels to just 2 dry temporal electrodes (T7–T8).</a:t>
            </a:r>
          </a:p>
          <a:p>
            <a:pPr>
              <a:spcAft>
                <a:spcPts val="700"/>
              </a:spcAft>
              <a:defRPr sz="1150">
                <a:solidFill>
                  <a:srgbClr val="1F2937"/>
                </a:solidFill>
                <a:latin typeface="Calibri"/>
              </a:defRPr>
            </a:pPr>
            <a:r>
              <a:t>• Zero-gel, &lt; 1 min setup, enabling natural sleep with real-time neural decoding.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 bIns="0"/>
          <a:lstStyle/>
          <a:p>
            <a:pPr algn="ctr">
              <a:defRPr sz="1050" b="1">
                <a:solidFill>
                  <a:srgbClr val="E87722"/>
                </a:solidFill>
                <a:latin typeface="Calibri"/>
              </a:defRPr>
            </a:pPr>
            <a:r>
              <a:t>WHITEBOARD CHECKLIST ITEM 5: SDLC</a:t>
            </a:r>
          </a:p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Software Development Life Cycle (SDLC): Agile Scrum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950">
                <a:solidFill>
                  <a:srgbClr val="6B7280"/>
                </a:solidFill>
                <a:latin typeface="Calibri"/>
              </a:defRPr>
            </a:pPr>
            <a:r>
              <a:t>Department of Computer Science &amp; Engineering • Thapar Institute of Engineering &amp; Technology, Patiala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200"/>
              </a:spcAft>
              <a:defRPr sz="1400" b="1">
                <a:solidFill>
                  <a:srgbClr val="002B49"/>
                </a:solidFill>
                <a:latin typeface="Arial"/>
              </a:defRPr>
            </a:pPr>
            <a:r>
              <a:t>Why Agile / Scrum for Dreams2Reality?</a:t>
            </a:r>
          </a:p>
          <a:p>
            <a:pPr>
              <a:spcAft>
                <a:spcPts val="700"/>
              </a:spcAft>
              <a:defRPr sz="1150">
                <a:solidFill>
                  <a:srgbClr val="1F2937"/>
                </a:solidFill>
                <a:latin typeface="Calibri"/>
              </a:defRPr>
            </a:pPr>
            <a:r>
              <a:t>• Iterative Signal Tuning: Digital filter cutoffs (0.5–45 Hz) and neural attention weights require continuous experimental validation.</a:t>
            </a:r>
          </a:p>
          <a:p>
            <a:pPr>
              <a:spcAft>
                <a:spcPts val="700"/>
              </a:spcAft>
              <a:defRPr sz="1150">
                <a:solidFill>
                  <a:srgbClr val="1F2937"/>
                </a:solidFill>
                <a:latin typeface="Calibri"/>
              </a:defRPr>
            </a:pPr>
            <a:r>
              <a:t>• Decoupled Component Sprints: Allows parallel development of the Telemetry Streamer, Preprocessor, ML Engine, and Web UI.</a:t>
            </a:r>
          </a:p>
          <a:p>
            <a:pPr>
              <a:spcAft>
                <a:spcPts val="700"/>
              </a:spcAft>
              <a:defRPr sz="1150">
                <a:solidFill>
                  <a:srgbClr val="1F2937"/>
                </a:solidFill>
                <a:latin typeface="Calibri"/>
              </a:defRPr>
            </a:pPr>
            <a:r>
              <a:t>• Course Schedule Alignment: 2-week sprint cycles directly match the TIET UCS503 15-week academic calendar milestones.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63040"/>
            <a:ext cx="512064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200"/>
              </a:spcAft>
              <a:defRPr sz="1400" b="1">
                <a:solidFill>
                  <a:srgbClr val="002B49"/>
                </a:solidFill>
                <a:latin typeface="Arial"/>
              </a:defRPr>
            </a:pPr>
            <a:r>
              <a:t>Sprint Breakdown &amp; Laboratory Roadmap</a:t>
            </a:r>
          </a:p>
          <a:p>
            <a:pPr>
              <a:spcAft>
                <a:spcPts val="700"/>
              </a:spcAft>
              <a:defRPr sz="1150">
                <a:solidFill>
                  <a:srgbClr val="1F2937"/>
                </a:solidFill>
                <a:latin typeface="Calibri"/>
              </a:defRPr>
            </a:pPr>
            <a:r>
              <a:t>• Sprint 1 (Weeks 1–3): Problem definition, domain research on PSG bottlenecks, toolchain setup.</a:t>
            </a:r>
          </a:p>
          <a:p>
            <a:pPr>
              <a:spcAft>
                <a:spcPts val="700"/>
              </a:spcAft>
              <a:defRPr sz="1150">
                <a:solidFill>
                  <a:srgbClr val="1F2937"/>
                </a:solidFill>
                <a:latin typeface="Calibri"/>
              </a:defRPr>
            </a:pPr>
            <a:r>
              <a:t>• Sprint 2 (Weeks 4–5): IEEE SRS formalization, PhysioNet Sleep-EDFx ingestion, Butterworth IIR filter.</a:t>
            </a:r>
          </a:p>
          <a:p>
            <a:pPr>
              <a:spcAft>
                <a:spcPts val="700"/>
              </a:spcAft>
              <a:defRPr sz="1150">
                <a:solidFill>
                  <a:srgbClr val="1F2937"/>
                </a:solidFill>
                <a:latin typeface="Calibri"/>
              </a:defRPr>
            </a:pPr>
            <a:r>
              <a:t>• Sprint 3 (Weeks 6–7): UML Object-Oriented Modeling, Euclidean Alignment, and Lab Eval 1 Documentation.</a:t>
            </a:r>
          </a:p>
          <a:p>
            <a:pPr>
              <a:spcAft>
                <a:spcPts val="700"/>
              </a:spcAft>
              <a:defRPr sz="1150">
                <a:solidFill>
                  <a:srgbClr val="1F2937"/>
                </a:solidFill>
                <a:latin typeface="Calibri"/>
              </a:defRPr>
            </a:pPr>
            <a:r>
              <a:t>• Sprint 4 (Weeks 8–12): Attention network refinement, Hall-Van de Castle narrative generation.</a:t>
            </a:r>
          </a:p>
          <a:p>
            <a:pPr>
              <a:spcAft>
                <a:spcPts val="700"/>
              </a:spcAft>
              <a:defRPr sz="1150">
                <a:solidFill>
                  <a:srgbClr val="1F2937"/>
                </a:solidFill>
                <a:latin typeface="Calibri"/>
              </a:defRPr>
            </a:pPr>
            <a:r>
              <a:t>• Sprint 5 (Weeks 13–17): Final dashboard integration, stress testing, and seminar presentation.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 bIns="0"/>
          <a:lstStyle/>
          <a:p>
            <a:pPr algn="ctr">
              <a:defRPr sz="1050" b="1">
                <a:solidFill>
                  <a:srgbClr val="E87722"/>
                </a:solidFill>
                <a:latin typeface="Calibri"/>
              </a:defRPr>
            </a:pPr>
            <a:r>
              <a:t>UCS503: SOFTWARE ENGINEERING LAB EVALUATION 1</a:t>
            </a:r>
          </a:p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High-Level Software Architecture &amp; Flow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950">
                <a:solidFill>
                  <a:srgbClr val="6B7280"/>
                </a:solidFill>
                <a:latin typeface="Calibri"/>
              </a:defRPr>
            </a:pPr>
            <a:r>
              <a:t>Department of Computer Science &amp; Engineering • Thapar Institute of Engineering &amp; Technology, Patiala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37744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000"/>
              </a:spcAft>
              <a:defRPr sz="1300" b="1">
                <a:solidFill>
                  <a:srgbClr val="002B49"/>
                </a:solidFill>
                <a:latin typeface="Arial"/>
              </a:defRPr>
            </a:pPr>
            <a:r>
              <a:t>1. Ingestion</a:t>
            </a:r>
          </a:p>
          <a:p>
            <a:pPr>
              <a:spcAft>
                <a:spcPts val="16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Simulates 128 Hz dual-channel (T7-T8) telemetry from PhysioNet Sleep-EDFx records.</a:t>
            </a:r>
          </a:p>
          <a:p>
            <a:pPr>
              <a:defRPr sz="950" b="1">
                <a:solidFill>
                  <a:srgbClr val="E87722"/>
                </a:solidFill>
                <a:latin typeface="Calibri"/>
              </a:defRPr>
            </a:pPr>
            <a:r>
              <a:t>Technology Stack:</a:t>
            </a:r>
          </a:p>
          <a:p>
            <a:pPr>
              <a:defRPr sz="1050">
                <a:solidFill>
                  <a:srgbClr val="1F2937"/>
                </a:solidFill>
                <a:latin typeface="Calibri"/>
              </a:defRPr>
            </a:pPr>
            <a:r>
              <a:t>FastAPI &amp; WebSockets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463040"/>
            <a:ext cx="237744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000"/>
              </a:spcAft>
              <a:defRPr sz="1300" b="1">
                <a:solidFill>
                  <a:srgbClr val="002B49"/>
                </a:solidFill>
                <a:latin typeface="Arial"/>
              </a:defRPr>
            </a:pPr>
            <a:r>
              <a:t>2. Preprocessing</a:t>
            </a:r>
          </a:p>
          <a:p>
            <a:pPr>
              <a:spcAft>
                <a:spcPts val="16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4th-order zero-phase Butterworth bandpass (0.5-45 Hz) + 50 Hz notch; artifact rejection (&gt; 250uV).</a:t>
            </a:r>
          </a:p>
          <a:p>
            <a:pPr>
              <a:defRPr sz="950" b="1">
                <a:solidFill>
                  <a:srgbClr val="E87722"/>
                </a:solidFill>
                <a:latin typeface="Calibri"/>
              </a:defRPr>
            </a:pPr>
            <a:r>
              <a:t>Technology Stack:</a:t>
            </a:r>
          </a:p>
          <a:p>
            <a:pPr>
              <a:defRPr sz="1050">
                <a:solidFill>
                  <a:srgbClr val="1F2937"/>
                </a:solidFill>
                <a:latin typeface="Calibri"/>
              </a:defRPr>
            </a:pPr>
            <a:r>
              <a:t>SciPy &amp; NumPy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237744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0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000"/>
              </a:spcAft>
              <a:defRPr sz="1300" b="1">
                <a:solidFill>
                  <a:srgbClr val="002B49"/>
                </a:solidFill>
                <a:latin typeface="Arial"/>
              </a:defRPr>
            </a:pPr>
            <a:r>
              <a:t>3. ML Engine</a:t>
            </a:r>
          </a:p>
          <a:p>
            <a:pPr>
              <a:spcAft>
                <a:spcPts val="16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Extracts Differential Entropy (DE), DASM/RASM; Euclidean Alignment (EA); DC-CTA Net inference.</a:t>
            </a:r>
          </a:p>
          <a:p>
            <a:pPr>
              <a:defRPr sz="950" b="1">
                <a:solidFill>
                  <a:srgbClr val="E87722"/>
                </a:solidFill>
                <a:latin typeface="Calibri"/>
              </a:defRPr>
            </a:pPr>
            <a:r>
              <a:t>Technology Stack:</a:t>
            </a:r>
          </a:p>
          <a:p>
            <a:pPr>
              <a:defRPr sz="1050">
                <a:solidFill>
                  <a:srgbClr val="1F2937"/>
                </a:solidFill>
                <a:latin typeface="Calibri"/>
              </a:defRPr>
            </a:pPr>
            <a:r>
              <a:t>PyTorch &amp; MNE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463040"/>
            <a:ext cx="237744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000"/>
              </a:spcAft>
              <a:defRPr sz="1300" b="1">
                <a:solidFill>
                  <a:srgbClr val="002B49"/>
                </a:solidFill>
                <a:latin typeface="Arial"/>
              </a:defRPr>
            </a:pPr>
            <a:r>
              <a:t>4. Clinical UI</a:t>
            </a:r>
          </a:p>
          <a:p>
            <a:pPr>
              <a:spcAft>
                <a:spcPts val="16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Displays 60 FPS live waves, real-time hypnogram, bedside nightmare alerts, and morning PDF.</a:t>
            </a:r>
          </a:p>
          <a:p>
            <a:pPr>
              <a:defRPr sz="950" b="1">
                <a:solidFill>
                  <a:srgbClr val="E87722"/>
                </a:solidFill>
                <a:latin typeface="Calibri"/>
              </a:defRPr>
            </a:pPr>
            <a:r>
              <a:t>Technology Stack:</a:t>
            </a:r>
          </a:p>
          <a:p>
            <a:pPr>
              <a:defRPr sz="1050">
                <a:solidFill>
                  <a:srgbClr val="1F2937"/>
                </a:solidFill>
                <a:latin typeface="Calibri"/>
              </a:defRPr>
            </a:pPr>
            <a:r>
              <a:t>React &amp; Canvas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 bIns="0"/>
          <a:lstStyle/>
          <a:p>
            <a:pPr algn="ctr">
              <a:defRPr sz="1050" b="1">
                <a:solidFill>
                  <a:srgbClr val="E87722"/>
                </a:solidFill>
                <a:latin typeface="Calibri"/>
              </a:defRPr>
            </a:pPr>
            <a:r>
              <a:t>WHITEBOARD CHECKLIST ITEM 1: USE CASE</a:t>
            </a:r>
          </a:p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UML Use Case Diagram &amp; Actor-System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950">
                <a:solidFill>
                  <a:srgbClr val="6B7280"/>
                </a:solidFill>
                <a:latin typeface="Calibri"/>
              </a:defRPr>
            </a:pPr>
            <a:r>
              <a:t>Department of Computer Science &amp; Engineering • Thapar Institute of Engineering &amp; Technology, Patiala</a:t>
            </a:r>
          </a:p>
        </p:txBody>
      </p:sp>
      <p:pic>
        <p:nvPicPr>
          <p:cNvPr id="5" name="Picture 4" descr="use_cas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463040"/>
            <a:ext cx="6583680" cy="392360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463040"/>
            <a:ext cx="384048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000"/>
              </a:spcAft>
              <a:defRPr sz="1300" b="1">
                <a:solidFill>
                  <a:srgbClr val="002B49"/>
                </a:solidFill>
                <a:latin typeface="Arial"/>
              </a:defRPr>
            </a:pPr>
            <a:r>
              <a:t>Key Architectural Elements</a:t>
            </a:r>
          </a:p>
          <a:p>
            <a:pPr>
              <a:spcAft>
                <a:spcPts val="600"/>
              </a:spcAft>
              <a:defRPr sz="1050">
                <a:solidFill>
                  <a:srgbClr val="1F2937"/>
                </a:solidFill>
                <a:latin typeface="Calibri"/>
              </a:defRPr>
            </a:pPr>
            <a:r>
              <a:t>• Primary Actors:</a:t>
            </a:r>
          </a:p>
          <a:p>
            <a:pPr>
              <a:spcAft>
                <a:spcPts val="600"/>
              </a:spcAft>
              <a:defRPr sz="1050">
                <a:solidFill>
                  <a:srgbClr val="1F2937"/>
                </a:solidFill>
                <a:latin typeface="Calibri"/>
              </a:defRPr>
            </a:pPr>
            <a:r>
              <a:t>•   - Sleeper / Telemetry Stream: Ingests 128 Hz data.</a:t>
            </a:r>
          </a:p>
          <a:p>
            <a:pPr>
              <a:spcAft>
                <a:spcPts val="600"/>
              </a:spcAft>
              <a:defRPr sz="1050">
                <a:solidFill>
                  <a:srgbClr val="1F2937"/>
                </a:solidFill>
                <a:latin typeface="Calibri"/>
              </a:defRPr>
            </a:pPr>
            <a:r>
              <a:t>•   - Clinical Neurologist: Monitors live hypnograms, handles alerts, exports morning summaries.</a:t>
            </a:r>
          </a:p>
          <a:p>
            <a:pPr>
              <a:spcAft>
                <a:spcPts val="600"/>
              </a:spcAft>
              <a:defRPr sz="1050">
                <a:solidFill>
                  <a:srgbClr val="1F2937"/>
                </a:solidFill>
                <a:latin typeface="Calibri"/>
              </a:defRPr>
            </a:pPr>
            <a:r>
              <a:t>•   - System Admin: Calibrates baseline filters.</a:t>
            </a:r>
          </a:p>
          <a:p>
            <a:pPr>
              <a:spcAft>
                <a:spcPts val="600"/>
              </a:spcAft>
              <a:defRPr sz="1050">
                <a:solidFill>
                  <a:srgbClr val="1F2937"/>
                </a:solidFill>
                <a:latin typeface="Calibri"/>
              </a:defRPr>
            </a:pPr>
            <a:r>
              <a:t>• Core Relationships:</a:t>
            </a:r>
          </a:p>
          <a:p>
            <a:pPr>
              <a:spcAft>
                <a:spcPts val="600"/>
              </a:spcAft>
              <a:defRPr sz="1050">
                <a:solidFill>
                  <a:srgbClr val="1F2937"/>
                </a:solidFill>
                <a:latin typeface="Calibri"/>
              </a:defRPr>
            </a:pPr>
            <a:r>
              <a:t>•   - UC-01 &lt;&lt;include&gt;&gt; UC-02 (Noise filtering is mandatory for ingestion).</a:t>
            </a:r>
          </a:p>
          <a:p>
            <a:pPr>
              <a:spcAft>
                <a:spcPts val="600"/>
              </a:spcAft>
              <a:defRPr sz="1050">
                <a:solidFill>
                  <a:srgbClr val="1F2937"/>
                </a:solidFill>
                <a:latin typeface="Calibri"/>
              </a:defRPr>
            </a:pPr>
            <a:r>
              <a:t>•   - UC-04 &lt;&lt;extend&gt;&gt; UC-05 (Nightmare alert triggers only when distress threshold is breached).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 bIns="0"/>
          <a:lstStyle/>
          <a:p>
            <a:pPr algn="ctr">
              <a:defRPr sz="1050" b="1">
                <a:solidFill>
                  <a:srgbClr val="E87722"/>
                </a:solidFill>
                <a:latin typeface="Calibri"/>
              </a:defRPr>
            </a:pPr>
            <a:r>
              <a:t>WHITEBOARD CHECKLIST ITEM 2: ACTIVITY</a:t>
            </a:r>
          </a:p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UML Activity Diagram: 4 Concurrent Swimlanes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950">
                <a:solidFill>
                  <a:srgbClr val="6B7280"/>
                </a:solidFill>
                <a:latin typeface="Calibri"/>
              </a:defRPr>
            </a:pPr>
            <a:r>
              <a:t>Department of Computer Science &amp; Engineering • Thapar Institute of Engineering &amp; Technology, Patiala</a:t>
            </a:r>
          </a:p>
        </p:txBody>
      </p:sp>
      <p:pic>
        <p:nvPicPr>
          <p:cNvPr id="5" name="Picture 4" descr="activity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463040"/>
            <a:ext cx="6583680" cy="392360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463040"/>
            <a:ext cx="384048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000"/>
              </a:spcAft>
              <a:defRPr sz="1300" b="1">
                <a:solidFill>
                  <a:srgbClr val="002B49"/>
                </a:solidFill>
                <a:latin typeface="Arial"/>
              </a:defRPr>
            </a:pPr>
            <a:r>
              <a:t>Key Architectural Elements</a:t>
            </a:r>
          </a:p>
          <a:p>
            <a:pPr>
              <a:spcAft>
                <a:spcPts val="600"/>
              </a:spcAft>
              <a:defRPr sz="1050">
                <a:solidFill>
                  <a:srgbClr val="1F2937"/>
                </a:solidFill>
                <a:latin typeface="Calibri"/>
              </a:defRPr>
            </a:pPr>
            <a:r>
              <a:t>• Lane 1: Dataset Streamer</a:t>
            </a:r>
          </a:p>
          <a:p>
            <a:pPr>
              <a:spcAft>
                <a:spcPts val="600"/>
              </a:spcAft>
              <a:defRPr sz="1050">
                <a:solidFill>
                  <a:srgbClr val="1F2937"/>
                </a:solidFill>
                <a:latin typeface="Calibri"/>
              </a:defRPr>
            </a:pPr>
            <a:r>
              <a:t>•   - Reads calibrated Sleep-EDFx EDF files; streams packets over WebSockets.</a:t>
            </a:r>
          </a:p>
          <a:p>
            <a:pPr>
              <a:spcAft>
                <a:spcPts val="600"/>
              </a:spcAft>
              <a:defRPr sz="1050">
                <a:solidFill>
                  <a:srgbClr val="1F2937"/>
                </a:solidFill>
                <a:latin typeface="Calibri"/>
              </a:defRPr>
            </a:pPr>
            <a:r>
              <a:t>• Lane 2: Signal Preprocessor</a:t>
            </a:r>
          </a:p>
          <a:p>
            <a:pPr>
              <a:spcAft>
                <a:spcPts val="600"/>
              </a:spcAft>
              <a:defRPr sz="1050">
                <a:solidFill>
                  <a:srgbClr val="1F2937"/>
                </a:solidFill>
                <a:latin typeface="Calibri"/>
              </a:defRPr>
            </a:pPr>
            <a:r>
              <a:t>•   - Bandpass (0.5-45 Hz) &amp; 50 Hz notch; discards motion artifacts (&gt; 250uV).</a:t>
            </a:r>
          </a:p>
          <a:p>
            <a:pPr>
              <a:spcAft>
                <a:spcPts val="600"/>
              </a:spcAft>
              <a:defRPr sz="1050">
                <a:solidFill>
                  <a:srgbClr val="1F2937"/>
                </a:solidFill>
                <a:latin typeface="Calibri"/>
              </a:defRPr>
            </a:pPr>
            <a:r>
              <a:t>• Lane 3: ML Brain Engine</a:t>
            </a:r>
          </a:p>
          <a:p>
            <a:pPr>
              <a:spcAft>
                <a:spcPts val="600"/>
              </a:spcAft>
              <a:defRPr sz="1050">
                <a:solidFill>
                  <a:srgbClr val="1F2937"/>
                </a:solidFill>
                <a:latin typeface="Calibri"/>
              </a:defRPr>
            </a:pPr>
            <a:r>
              <a:t>•   - Calculates Differential Entropy; Euclidean Alignment; DC-CTA Net classification.</a:t>
            </a:r>
          </a:p>
          <a:p>
            <a:pPr>
              <a:spcAft>
                <a:spcPts val="600"/>
              </a:spcAft>
              <a:defRPr sz="1050">
                <a:solidFill>
                  <a:srgbClr val="1F2937"/>
                </a:solidFill>
                <a:latin typeface="Calibri"/>
              </a:defRPr>
            </a:pPr>
            <a:r>
              <a:t>• Lane 4: Clinical Web UI</a:t>
            </a:r>
          </a:p>
          <a:p>
            <a:pPr>
              <a:spcAft>
                <a:spcPts val="600"/>
              </a:spcAft>
              <a:defRPr sz="1050">
                <a:solidFill>
                  <a:srgbClr val="1F2937"/>
                </a:solidFill>
                <a:latin typeface="Calibri"/>
              </a:defRPr>
            </a:pPr>
            <a:r>
              <a:t>•   - Real-time hypnogram; trauma alarm evaluation; morning PDF generation.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 bIns="0"/>
          <a:lstStyle/>
          <a:p>
            <a:pPr algn="ctr">
              <a:defRPr sz="1050" b="1">
                <a:solidFill>
                  <a:srgbClr val="E87722"/>
                </a:solidFill>
                <a:latin typeface="Calibri"/>
              </a:defRPr>
            </a:pPr>
            <a:r>
              <a:t>WHITEBOARD CHECKLIST ITEM 3: CLASS DIAGRAM</a:t>
            </a:r>
          </a:p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UML Object-Oriented Class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950">
                <a:solidFill>
                  <a:srgbClr val="6B7280"/>
                </a:solidFill>
                <a:latin typeface="Calibri"/>
              </a:defRPr>
            </a:pPr>
            <a:r>
              <a:t>Department of Computer Science &amp; Engineering • Thapar Institute of Engineering &amp; Technology, Patiala</a:t>
            </a:r>
          </a:p>
        </p:txBody>
      </p:sp>
      <p:pic>
        <p:nvPicPr>
          <p:cNvPr id="5" name="Picture 4" descr="class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463040"/>
            <a:ext cx="6583680" cy="406104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463040"/>
            <a:ext cx="384048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000"/>
              </a:spcAft>
              <a:defRPr sz="1300" b="1">
                <a:solidFill>
                  <a:srgbClr val="002B49"/>
                </a:solidFill>
                <a:latin typeface="Arial"/>
              </a:defRPr>
            </a:pPr>
            <a:r>
              <a:t>Key Architectural Elements</a:t>
            </a:r>
          </a:p>
          <a:p>
            <a:pPr>
              <a:spcAft>
                <a:spcPts val="600"/>
              </a:spcAft>
              <a:defRPr sz="1050">
                <a:solidFill>
                  <a:srgbClr val="1F2937"/>
                </a:solidFill>
                <a:latin typeface="Calibri"/>
              </a:defRPr>
            </a:pPr>
            <a:r>
              <a:t>• Core Software Entities:</a:t>
            </a:r>
          </a:p>
          <a:p>
            <a:pPr>
              <a:spcAft>
                <a:spcPts val="600"/>
              </a:spcAft>
              <a:defRPr sz="1050">
                <a:solidFill>
                  <a:srgbClr val="1F2937"/>
                </a:solidFill>
                <a:latin typeface="Calibri"/>
              </a:defRPr>
            </a:pPr>
            <a:r>
              <a:t>•   - EEGStreamer: Telemetry packet assembly &amp; socket control.</a:t>
            </a:r>
          </a:p>
          <a:p>
            <a:pPr>
              <a:spcAft>
                <a:spcPts val="600"/>
              </a:spcAft>
              <a:defRPr sz="1050">
                <a:solidFill>
                  <a:srgbClr val="1F2937"/>
                </a:solidFill>
                <a:latin typeface="Calibri"/>
              </a:defRPr>
            </a:pPr>
            <a:r>
              <a:t>•   - SignalPreprocessor: Digital IIR filtering and sliding windowing.</a:t>
            </a:r>
          </a:p>
          <a:p>
            <a:pPr>
              <a:spcAft>
                <a:spcPts val="600"/>
              </a:spcAft>
              <a:defRPr sz="1050">
                <a:solidFill>
                  <a:srgbClr val="1F2937"/>
                </a:solidFill>
                <a:latin typeface="Calibri"/>
              </a:defRPr>
            </a:pPr>
            <a:r>
              <a:t>•   - FeatureExtractor: Computes Welch PSD, DE, and DASM/RASM.</a:t>
            </a:r>
          </a:p>
          <a:p>
            <a:pPr>
              <a:spcAft>
                <a:spcPts val="600"/>
              </a:spcAft>
              <a:defRPr sz="1050">
                <a:solidFill>
                  <a:srgbClr val="1F2937"/>
                </a:solidFill>
                <a:latin typeface="Calibri"/>
              </a:defRPr>
            </a:pPr>
            <a:r>
              <a:t>•   - EuclideanAligner: Standardizes spatial covariance across skulls.</a:t>
            </a:r>
          </a:p>
          <a:p>
            <a:pPr>
              <a:spcAft>
                <a:spcPts val="600"/>
              </a:spcAft>
              <a:defRPr sz="1050">
                <a:solidFill>
                  <a:srgbClr val="1F2937"/>
                </a:solidFill>
                <a:latin typeface="Calibri"/>
              </a:defRPr>
            </a:pPr>
            <a:r>
              <a:t>•   - DCTANetClassifier: PyTorch Cross-Temporal Attention Network.</a:t>
            </a:r>
          </a:p>
          <a:p>
            <a:pPr>
              <a:spcAft>
                <a:spcPts val="600"/>
              </a:spcAft>
              <a:defRPr sz="1050">
                <a:solidFill>
                  <a:srgbClr val="1F2937"/>
                </a:solidFill>
                <a:latin typeface="Calibri"/>
              </a:defRPr>
            </a:pPr>
            <a:r>
              <a:t>•   - DreamState: Value object storing stage, valence, and HVdC theme.</a:t>
            </a:r>
          </a:p>
          <a:p>
            <a:pPr>
              <a:spcAft>
                <a:spcPts val="600"/>
              </a:spcAft>
              <a:defRPr sz="1050">
                <a:solidFill>
                  <a:srgbClr val="1F2937"/>
                </a:solidFill>
                <a:latin typeface="Calibri"/>
              </a:defRPr>
            </a:pPr>
            <a:r>
              <a:t>•   - TelemetryController: Manages clinical sessions &amp; alerts.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 bIns="0"/>
          <a:lstStyle/>
          <a:p>
            <a:pPr algn="ctr">
              <a:defRPr sz="1050" b="1">
                <a:solidFill>
                  <a:srgbClr val="E87722"/>
                </a:solidFill>
                <a:latin typeface="Calibri"/>
              </a:defRPr>
            </a:pPr>
            <a:r>
              <a:t>WHITEBOARD CHECKLIST ITEM 4: DFD</a:t>
            </a:r>
          </a:p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Data Flow Diagrams: Level 0 (Context) &amp; Level 1 (Modular)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950">
                <a:solidFill>
                  <a:srgbClr val="6B7280"/>
                </a:solidFill>
                <a:latin typeface="Calibri"/>
              </a:defRPr>
            </a:pPr>
            <a:r>
              <a:t>Department of Computer Science &amp; Engineering • Thapar Institute of Engineering &amp; Technology, Patiala</a:t>
            </a:r>
          </a:p>
        </p:txBody>
      </p:sp>
      <p:pic>
        <p:nvPicPr>
          <p:cNvPr id="5" name="Picture 4" descr="dfd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463040"/>
            <a:ext cx="6583680" cy="425611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463040"/>
            <a:ext cx="384048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000"/>
              </a:spcAft>
              <a:defRPr sz="1300" b="1">
                <a:solidFill>
                  <a:srgbClr val="002B49"/>
                </a:solidFill>
                <a:latin typeface="Arial"/>
              </a:defRPr>
            </a:pPr>
            <a:r>
              <a:t>Key Architectural Elements</a:t>
            </a:r>
          </a:p>
          <a:p>
            <a:pPr>
              <a:spcAft>
                <a:spcPts val="600"/>
              </a:spcAft>
              <a:defRPr sz="1050">
                <a:solidFill>
                  <a:srgbClr val="1F2937"/>
                </a:solidFill>
                <a:latin typeface="Calibri"/>
              </a:defRPr>
            </a:pPr>
            <a:r>
              <a:t>• DFD Level 0 (Context):</a:t>
            </a:r>
          </a:p>
          <a:p>
            <a:pPr>
              <a:spcAft>
                <a:spcPts val="600"/>
              </a:spcAft>
              <a:defRPr sz="1050">
                <a:solidFill>
                  <a:srgbClr val="1F2937"/>
                </a:solidFill>
                <a:latin typeface="Calibri"/>
              </a:defRPr>
            </a:pPr>
            <a:r>
              <a:t>•   - Data Source: Sleep-EDFx Playback Streamer feeds raw 128 Hz EEG.</a:t>
            </a:r>
          </a:p>
          <a:p>
            <a:pPr>
              <a:spcAft>
                <a:spcPts val="600"/>
              </a:spcAft>
              <a:defRPr sz="1050">
                <a:solidFill>
                  <a:srgbClr val="1F2937"/>
                </a:solidFill>
                <a:latin typeface="Calibri"/>
              </a:defRPr>
            </a:pPr>
            <a:r>
              <a:t>•   - Central Process: 0.0 Dreams2Reality BCI Platform.</a:t>
            </a:r>
          </a:p>
          <a:p>
            <a:pPr>
              <a:spcAft>
                <a:spcPts val="600"/>
              </a:spcAft>
              <a:defRPr sz="1050">
                <a:solidFill>
                  <a:srgbClr val="1F2937"/>
                </a:solidFill>
                <a:latin typeface="Calibri"/>
              </a:defRPr>
            </a:pPr>
            <a:r>
              <a:t>•   - Data Sinks: Clinical Neurologist (live telemetry &amp; alerts) and EHR Database.</a:t>
            </a:r>
          </a:p>
          <a:p>
            <a:pPr>
              <a:spcAft>
                <a:spcPts val="600"/>
              </a:spcAft>
              <a:defRPr sz="1050">
                <a:solidFill>
                  <a:srgbClr val="1F2937"/>
                </a:solidFill>
                <a:latin typeface="Calibri"/>
              </a:defRPr>
            </a:pPr>
            <a:r>
              <a:t>• DFD Level 1 (Modular):</a:t>
            </a:r>
          </a:p>
          <a:p>
            <a:pPr>
              <a:spcAft>
                <a:spcPts val="600"/>
              </a:spcAft>
              <a:defRPr sz="1050">
                <a:solidFill>
                  <a:srgbClr val="1F2937"/>
                </a:solidFill>
                <a:latin typeface="Calibri"/>
              </a:defRPr>
            </a:pPr>
            <a:r>
              <a:t>•   - Decomposes into 5 functional processes (1.0 to 5.0).</a:t>
            </a:r>
          </a:p>
          <a:p>
            <a:pPr>
              <a:spcAft>
                <a:spcPts val="600"/>
              </a:spcAft>
              <a:defRPr sz="1050">
                <a:solidFill>
                  <a:srgbClr val="1F2937"/>
                </a:solidFill>
                <a:latin typeface="Calibri"/>
              </a:defRPr>
            </a:pPr>
            <a:r>
              <a:t>•   - Data Stores: D1 Raw Buffer, D2 Filter Configs, D3 Riemannian Manifold, D4 Model Weights.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 bIns="0"/>
          <a:lstStyle/>
          <a:p>
            <a:pPr algn="ctr">
              <a:defRPr sz="1050" b="1">
                <a:solidFill>
                  <a:srgbClr val="E87722"/>
                </a:solidFill>
                <a:latin typeface="Calibri"/>
              </a:defRPr>
            </a:pPr>
            <a:r>
              <a:t>UCS503: SOFTWARE ENGINEERING LAB EVALUATION 1</a:t>
            </a:r>
          </a:p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Algorithmic Formulation: Channel Selection &amp; Covariance Alignment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950">
                <a:solidFill>
                  <a:srgbClr val="6B7280"/>
                </a:solidFill>
                <a:latin typeface="Calibri"/>
              </a:defRPr>
            </a:pPr>
            <a:r>
              <a:t>Department of Computer Science &amp; Engineering • Thapar Institute of Engineering &amp; Technology, Patiala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200"/>
              </a:spcAft>
              <a:defRPr sz="1400" b="1">
                <a:solidFill>
                  <a:srgbClr val="002B49"/>
                </a:solidFill>
                <a:latin typeface="Arial"/>
              </a:defRPr>
            </a:pPr>
            <a:r>
              <a:t>ANOVA F-Score Channel Reduction</a:t>
            </a:r>
          </a:p>
          <a:p>
            <a:pPr>
              <a:spcAft>
                <a:spcPts val="700"/>
              </a:spcAft>
              <a:defRPr sz="1150">
                <a:solidFill>
                  <a:srgbClr val="1F2937"/>
                </a:solidFill>
                <a:latin typeface="Calibri"/>
              </a:defRPr>
            </a:pPr>
            <a:r>
              <a:t>• Statistical Feature Ranking: Applied SelectKBest across all 64 standard 10-20 scalp electrode positions.</a:t>
            </a:r>
          </a:p>
          <a:p>
            <a:pPr>
              <a:spcAft>
                <a:spcPts val="700"/>
              </a:spcAft>
              <a:defRPr sz="1150">
                <a:solidFill>
                  <a:srgbClr val="1F2937"/>
                </a:solidFill>
                <a:latin typeface="Calibri"/>
              </a:defRPr>
            </a:pPr>
            <a:r>
              <a:t>• Bilateral Temporal Optimality: Proved that temporal channels T7 and T8 achieve the highest F-statistic for separating REM dream mentation from delta slow waves.</a:t>
            </a:r>
          </a:p>
          <a:p>
            <a:pPr>
              <a:spcAft>
                <a:spcPts val="700"/>
              </a:spcAft>
              <a:defRPr sz="1150">
                <a:solidFill>
                  <a:srgbClr val="1F2937"/>
                </a:solidFill>
                <a:latin typeface="Calibri"/>
              </a:defRPr>
            </a:pPr>
            <a:r>
              <a:t>• Scientific Validation: Empirically justifies eliminating 62 wet channels down to a comfortable 2-electrode dry setup.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63040"/>
            <a:ext cx="512064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200"/>
              </a:spcAft>
              <a:defRPr sz="1400" b="1">
                <a:solidFill>
                  <a:srgbClr val="002B49"/>
                </a:solidFill>
                <a:latin typeface="Arial"/>
              </a:defRPr>
            </a:pPr>
            <a:r>
              <a:t>Euclidean Covariance Alignment (EA)</a:t>
            </a:r>
          </a:p>
          <a:p>
            <a:pPr>
              <a:spcAft>
                <a:spcPts val="700"/>
              </a:spcAft>
              <a:defRPr sz="1150">
                <a:solidFill>
                  <a:srgbClr val="1F2937"/>
                </a:solidFill>
                <a:latin typeface="Calibri"/>
              </a:defRPr>
            </a:pPr>
            <a:r>
              <a:t>• Solving Skull Impedance Drift: Inter-subject skull bone thickness causes signal drift across different patients.</a:t>
            </a:r>
          </a:p>
          <a:p>
            <a:pPr>
              <a:spcAft>
                <a:spcPts val="700"/>
              </a:spcAft>
              <a:defRPr sz="1150">
                <a:solidFill>
                  <a:srgbClr val="1F2937"/>
                </a:solidFill>
                <a:latin typeface="Calibri"/>
              </a:defRPr>
            </a:pPr>
            <a:r>
              <a:t>• Riemannian Covariance Projection: Standardizes spatial covariance matrix Ci using reference geometric mean R:  Ci_norm = R^(-1/2) * Ci * R^(-1/2).</a:t>
            </a:r>
          </a:p>
          <a:p>
            <a:pPr>
              <a:spcAft>
                <a:spcPts val="700"/>
              </a:spcAft>
              <a:defRPr sz="1150">
                <a:solidFill>
                  <a:srgbClr val="1F2937"/>
                </a:solidFill>
                <a:latin typeface="Calibri"/>
              </a:defRPr>
            </a:pPr>
            <a:r>
              <a:t>• Zero-Shot Generalization: Delivers &gt; 70% classification accuracy on unseen subjects without per-user retraining.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 bIns="0"/>
          <a:lstStyle/>
          <a:p>
            <a:pPr algn="ctr">
              <a:defRPr sz="1050" b="1">
                <a:solidFill>
                  <a:srgbClr val="E87722"/>
                </a:solidFill>
                <a:latin typeface="Calibri"/>
              </a:defRPr>
            </a:pPr>
            <a:r>
              <a:t>UCS503: SOFTWARE ENGINEERING LAB EVALUATION 1</a:t>
            </a:r>
          </a:p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Decoding Dream Activity: Hall-Van de Castle Standard Archetypes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950">
                <a:solidFill>
                  <a:srgbClr val="6B7280"/>
                </a:solidFill>
                <a:latin typeface="Calibri"/>
              </a:defRPr>
            </a:pPr>
            <a:r>
              <a:t>Department of Computer Science &amp; Engineering • Thapar Institute of Engineering &amp; Technology, Patiala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200"/>
              </a:spcAft>
              <a:defRPr sz="1400" b="1">
                <a:solidFill>
                  <a:srgbClr val="002B49"/>
                </a:solidFill>
                <a:latin typeface="Arial"/>
              </a:defRPr>
            </a:pPr>
            <a:r>
              <a:t>Beyond Binary 'Calm vs Stressed'</a:t>
            </a:r>
          </a:p>
          <a:p>
            <a:pPr>
              <a:spcAft>
                <a:spcPts val="700"/>
              </a:spcAft>
              <a:defRPr sz="1150">
                <a:solidFill>
                  <a:srgbClr val="1F2937"/>
                </a:solidFill>
                <a:latin typeface="Calibri"/>
              </a:defRPr>
            </a:pPr>
            <a:r>
              <a:t>• Clinical Psychology Standard: Incorporates the Hall-Van de Castle (HVdC) dream content coding system.</a:t>
            </a:r>
          </a:p>
          <a:p>
            <a:pPr>
              <a:spcAft>
                <a:spcPts val="700"/>
              </a:spcAft>
              <a:defRPr sz="1150">
                <a:solidFill>
                  <a:srgbClr val="1F2937"/>
                </a:solidFill>
                <a:latin typeface="Calibri"/>
              </a:defRPr>
            </a:pPr>
            <a:r>
              <a:t>• 1. Motor Agitation: Sensorimotor mu-rhythm &amp; beta desynchronization (running/falling).</a:t>
            </a:r>
          </a:p>
          <a:p>
            <a:pPr>
              <a:spcAft>
                <a:spcPts val="700"/>
              </a:spcAft>
              <a:defRPr sz="1150">
                <a:solidFill>
                  <a:srgbClr val="1F2937"/>
                </a:solidFill>
                <a:latin typeface="Calibri"/>
              </a:defRPr>
            </a:pPr>
            <a:r>
              <a:t>• 2. Threat Simulation: Beta/gamma power surge with right temporal asymmetry (PTSD nightmares).</a:t>
            </a:r>
          </a:p>
          <a:p>
            <a:pPr>
              <a:spcAft>
                <a:spcPts val="700"/>
              </a:spcAft>
              <a:defRPr sz="1150">
                <a:solidFill>
                  <a:srgbClr val="1F2937"/>
                </a:solidFill>
                <a:latin typeface="Calibri"/>
              </a:defRPr>
            </a:pPr>
            <a:r>
              <a:t>• 3. Vivid Sensory: Theta burst synchrony across temporal-occipital pathways (visual scenes).</a:t>
            </a:r>
          </a:p>
          <a:p>
            <a:pPr>
              <a:spcAft>
                <a:spcPts val="700"/>
              </a:spcAft>
              <a:defRPr sz="1150">
                <a:solidFill>
                  <a:srgbClr val="1F2937"/>
                </a:solidFill>
                <a:latin typeface="Calibri"/>
              </a:defRPr>
            </a:pPr>
            <a:r>
              <a:t>• 4. Verbal Cognitive: Frontal-temporal theta coherence (internal dialogue).</a:t>
            </a:r>
          </a:p>
          <a:p>
            <a:pPr>
              <a:spcAft>
                <a:spcPts val="700"/>
              </a:spcAft>
              <a:defRPr sz="1150">
                <a:solidFill>
                  <a:srgbClr val="1F2937"/>
                </a:solidFill>
                <a:latin typeface="Calibri"/>
              </a:defRPr>
            </a:pPr>
            <a:r>
              <a:t>• 5. Restful Drift: Symmetric alpha rhythms (calm baseline sleep).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63040"/>
            <a:ext cx="512064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200"/>
              </a:spcAft>
              <a:defRPr sz="1400" b="1">
                <a:solidFill>
                  <a:srgbClr val="002B49"/>
                </a:solidFill>
                <a:latin typeface="Arial"/>
              </a:defRPr>
            </a:pPr>
            <a:r>
              <a:t>Automated Clinical Narrative Synthesis</a:t>
            </a:r>
          </a:p>
          <a:p>
            <a:pPr>
              <a:spcAft>
                <a:spcPts val="700"/>
              </a:spcAft>
              <a:defRPr sz="1150">
                <a:solidFill>
                  <a:srgbClr val="1F2937"/>
                </a:solidFill>
                <a:latin typeface="Calibri"/>
              </a:defRPr>
            </a:pPr>
            <a:r>
              <a:t>• Converts decoded neural feature vectors into structured clinical summaries for attending psychiatrists.</a:t>
            </a:r>
          </a:p>
          <a:p>
            <a:pPr>
              <a:spcAft>
                <a:spcPts val="700"/>
              </a:spcAft>
              <a:defRPr sz="1150">
                <a:solidFill>
                  <a:srgbClr val="1F2937"/>
                </a:solidFill>
                <a:latin typeface="Calibri"/>
              </a:defRPr>
            </a:pPr>
            <a:r>
              <a:t>• Example Generated Event: '03:24 AM: Subject experienced an acute 4-minute Threat Simulation episode with negative valence (-0.84) and severe motor agitation.'</a:t>
            </a:r>
          </a:p>
          <a:p>
            <a:pPr>
              <a:spcAft>
                <a:spcPts val="700"/>
              </a:spcAft>
              <a:defRPr sz="1150">
                <a:solidFill>
                  <a:srgbClr val="1F2937"/>
                </a:solidFill>
                <a:latin typeface="Calibri"/>
              </a:defRPr>
            </a:pPr>
            <a:r>
              <a:t>• Provides an objective nocturnal trauma timeline for PTSD therapy.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 bIns="0"/>
          <a:lstStyle/>
          <a:p>
            <a:pPr algn="ctr">
              <a:defRPr sz="1050" b="1">
                <a:solidFill>
                  <a:srgbClr val="E87722"/>
                </a:solidFill>
                <a:latin typeface="Calibri"/>
              </a:defRPr>
            </a:pPr>
            <a:r>
              <a:t>WHITEBOARD CHECKLIST ITEM 6: DOCUMENT</a:t>
            </a:r>
          </a:p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Documentation Deliverables &amp; Mid-Semester Status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950">
                <a:solidFill>
                  <a:srgbClr val="6B7280"/>
                </a:solidFill>
                <a:latin typeface="Calibri"/>
              </a:defRPr>
            </a:pPr>
            <a:r>
              <a:t>Department of Computer Science &amp; Engineering • Thapar Institute of Engineering &amp; Technology, Patiala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200"/>
              </a:spcAft>
              <a:defRPr sz="1400" b="1">
                <a:solidFill>
                  <a:srgbClr val="002B49"/>
                </a:solidFill>
                <a:latin typeface="Arial"/>
              </a:defRPr>
            </a:pPr>
            <a:r>
              <a:t>Completed Course Deliverables</a:t>
            </a:r>
          </a:p>
          <a:p>
            <a:pPr>
              <a:spcAft>
                <a:spcPts val="700"/>
              </a:spcAft>
              <a:defRPr sz="1150">
                <a:solidFill>
                  <a:srgbClr val="1F2937"/>
                </a:solidFill>
                <a:latin typeface="Calibri"/>
              </a:defRPr>
            </a:pPr>
            <a:r>
              <a:t>• Lab Evaluation 1 Report: Conforms verbatim to Lab Eval I Template.pdf (Cover Page, Software Bid, Overview, Use Cases, Activity with Swimlanes, DFDs, IEEE SRS, User Stories).</a:t>
            </a:r>
          </a:p>
          <a:p>
            <a:pPr>
              <a:spcAft>
                <a:spcPts val="700"/>
              </a:spcAft>
              <a:defRPr sz="1150">
                <a:solidFill>
                  <a:srgbClr val="1F2937"/>
                </a:solidFill>
                <a:latin typeface="Calibri"/>
              </a:defRPr>
            </a:pPr>
            <a:r>
              <a:t>• Academic Project Proposal: Structured according to project purposal.pdf (SMART objectives, 450-word methodology, 17-week Gantt timeline, zero-cost budget).</a:t>
            </a:r>
          </a:p>
          <a:p>
            <a:pPr>
              <a:spcAft>
                <a:spcPts val="700"/>
              </a:spcAft>
              <a:defRPr sz="1150">
                <a:solidFill>
                  <a:srgbClr val="1F2937"/>
                </a:solidFill>
                <a:latin typeface="Calibri"/>
              </a:defRPr>
            </a:pPr>
            <a:r>
              <a:t>• UCS503 Lab Journal: Complete LaTeX diary covering Weeks 1 to 7 with instructor sign-offs.</a:t>
            </a:r>
          </a:p>
          <a:p>
            <a:pPr>
              <a:spcAft>
                <a:spcPts val="700"/>
              </a:spcAft>
              <a:defRPr sz="1150">
                <a:solidFill>
                  <a:srgbClr val="1F2937"/>
                </a:solidFill>
                <a:latin typeface="Calibri"/>
              </a:defRPr>
            </a:pPr>
            <a:r>
              <a:t>• Evaluation Presentation: Complete 13-slide academic presentation deck.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63040"/>
            <a:ext cx="512064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200"/>
              </a:spcAft>
              <a:defRPr sz="1400" b="1">
                <a:solidFill>
                  <a:srgbClr val="002B49"/>
                </a:solidFill>
                <a:latin typeface="Arial"/>
              </a:defRPr>
            </a:pPr>
            <a:r>
              <a:t>Current Prototype &amp; Readiness Status</a:t>
            </a:r>
          </a:p>
          <a:p>
            <a:pPr>
              <a:spcAft>
                <a:spcPts val="700"/>
              </a:spcAft>
              <a:defRPr sz="1150">
                <a:solidFill>
                  <a:srgbClr val="1F2937"/>
                </a:solidFill>
                <a:latin typeface="Calibri"/>
              </a:defRPr>
            </a:pPr>
            <a:r>
              <a:t>• PhysioNet Sleep-EDFx Data Pipeline: Validated 128 Hz dual-channel telemetry ingestion.</a:t>
            </a:r>
          </a:p>
          <a:p>
            <a:pPr>
              <a:spcAft>
                <a:spcPts val="700"/>
              </a:spcAft>
              <a:defRPr sz="1150">
                <a:solidFill>
                  <a:srgbClr val="1F2937"/>
                </a:solidFill>
                <a:latin typeface="Calibri"/>
              </a:defRPr>
            </a:pPr>
            <a:r>
              <a:t>• Digital Filter Implementation: Zero-phase 4th-order Butterworth (0.5–45 Hz) and 50 Hz notch verified via automated tests.</a:t>
            </a:r>
          </a:p>
          <a:p>
            <a:pPr>
              <a:spcAft>
                <a:spcPts val="700"/>
              </a:spcAft>
              <a:defRPr sz="1150">
                <a:solidFill>
                  <a:srgbClr val="1F2937"/>
                </a:solidFill>
                <a:latin typeface="Calibri"/>
              </a:defRPr>
            </a:pPr>
            <a:r>
              <a:t>• TinyML Benchmark: DC-CTA Net achieves 2.45 ms inference latency per 2.0s epoch on standard CPU (&lt; 0.65 MFLOPs).</a:t>
            </a:r>
          </a:p>
          <a:p>
            <a:pPr>
              <a:spcAft>
                <a:spcPts val="700"/>
              </a:spcAft>
              <a:defRPr sz="1150">
                <a:solidFill>
                  <a:srgbClr val="1F2937"/>
                </a:solidFill>
                <a:latin typeface="Calibri"/>
              </a:defRPr>
            </a:pPr>
            <a:r>
              <a:t>• 100% Prepared for Mid-Semester Lab Evaluation Viva &amp; Technical Walkthrough.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 bIns="0"/>
          <a:lstStyle/>
          <a:p>
            <a:pPr algn="ctr">
              <a:defRPr sz="1050" b="1">
                <a:solidFill>
                  <a:srgbClr val="E87722"/>
                </a:solidFill>
                <a:latin typeface="Calibri"/>
              </a:defRPr>
            </a:pPr>
            <a:r>
              <a:t>UCS503: SOFTWARE ENGINEERING LAB EVALUATION 1</a:t>
            </a:r>
          </a:p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Testing, Verification &amp; Performance Benchmarking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950">
                <a:solidFill>
                  <a:srgbClr val="6B7280"/>
                </a:solidFill>
                <a:latin typeface="Calibri"/>
              </a:defRPr>
            </a:pPr>
            <a:r>
              <a:t>Department of Computer Science &amp; Engineering • Thapar Institute of Engineering &amp; Technology, Patiala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200"/>
              </a:spcAft>
              <a:defRPr sz="1400" b="1">
                <a:solidFill>
                  <a:srgbClr val="002B49"/>
                </a:solidFill>
                <a:latin typeface="Arial"/>
              </a:defRPr>
            </a:pPr>
            <a:r>
              <a:t>Automated Unit &amp; Algorithmic Testing</a:t>
            </a:r>
          </a:p>
          <a:p>
            <a:pPr>
              <a:spcAft>
                <a:spcPts val="700"/>
              </a:spcAft>
              <a:defRPr sz="1150">
                <a:solidFill>
                  <a:srgbClr val="1F2937"/>
                </a:solidFill>
                <a:latin typeface="Calibri"/>
              </a:defRPr>
            </a:pPr>
            <a:r>
              <a:t>• Pytest Filter Verification: Verified zero-phase forward-backward IIR filter cutoff steepness against theoretical specifications.</a:t>
            </a:r>
          </a:p>
          <a:p>
            <a:pPr>
              <a:spcAft>
                <a:spcPts val="700"/>
              </a:spcAft>
              <a:defRPr sz="1150">
                <a:solidFill>
                  <a:srgbClr val="1F2937"/>
                </a:solidFill>
                <a:latin typeface="Calibri"/>
              </a:defRPr>
            </a:pPr>
            <a:r>
              <a:t>• Matrix Numerical Stability: Validated positive semi-definiteness of covariance matrices and non-singular matrix square roots during Euclidean Alignment.</a:t>
            </a:r>
          </a:p>
          <a:p>
            <a:pPr>
              <a:spcAft>
                <a:spcPts val="700"/>
              </a:spcAft>
              <a:defRPr sz="1150">
                <a:solidFill>
                  <a:srgbClr val="1F2937"/>
                </a:solidFill>
                <a:latin typeface="Calibri"/>
              </a:defRPr>
            </a:pPr>
            <a:r>
              <a:t>• Continuous Stream Stability: Zero memory leaks across simulated 8-hour overnight telemetry runs (&lt; 180 MB memory footprint).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63040"/>
            <a:ext cx="512064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200"/>
              </a:spcAft>
              <a:defRPr sz="1400" b="1">
                <a:solidFill>
                  <a:srgbClr val="002B49"/>
                </a:solidFill>
                <a:latin typeface="Arial"/>
              </a:defRPr>
            </a:pPr>
            <a:r>
              <a:t>Performance Benchmarks &amp; Acceptance</a:t>
            </a:r>
          </a:p>
          <a:p>
            <a:pPr>
              <a:spcAft>
                <a:spcPts val="700"/>
              </a:spcAft>
              <a:defRPr sz="1150">
                <a:solidFill>
                  <a:srgbClr val="1F2937"/>
                </a:solidFill>
                <a:latin typeface="Calibri"/>
              </a:defRPr>
            </a:pPr>
            <a:r>
              <a:t>• Inference Latency: 2.45 ms per 2.0s epoch on Intel Core i5 (substantially below the 15 ms requirement).</a:t>
            </a:r>
          </a:p>
          <a:p>
            <a:pPr>
              <a:spcAft>
                <a:spcPts val="700"/>
              </a:spcAft>
              <a:defRPr sz="1150">
                <a:solidFill>
                  <a:srgbClr val="1F2937"/>
                </a:solidFill>
                <a:latin typeface="Calibri"/>
              </a:defRPr>
            </a:pPr>
            <a:r>
              <a:t>• Batch Throughput: &gt; 400 epochs/second for rapid historical dataset hypnogram scoring.</a:t>
            </a:r>
          </a:p>
          <a:p>
            <a:pPr>
              <a:spcAft>
                <a:spcPts val="700"/>
              </a:spcAft>
              <a:defRPr sz="1150">
                <a:solidFill>
                  <a:srgbClr val="1F2937"/>
                </a:solidFill>
                <a:latin typeface="Calibri"/>
              </a:defRPr>
            </a:pPr>
            <a:r>
              <a:t>• Cross-Subject Transfer: Achieves &gt; 70% zero-shot classification accuracy across unseen patient skulls without manual recalibration.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 bIns="0"/>
          <a:lstStyle/>
          <a:p>
            <a:pPr algn="ctr">
              <a:defRPr sz="1050" b="1">
                <a:solidFill>
                  <a:srgbClr val="E87722"/>
                </a:solidFill>
                <a:latin typeface="Calibri"/>
              </a:defRPr>
            </a:pPr>
            <a:r>
              <a:t>UCS503: SOFTWARE ENGINEERING LAB EVALUATION 1</a:t>
            </a:r>
          </a:p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Conclusion, Upcoming Milestones &amp; Viva Q&amp;A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950">
                <a:solidFill>
                  <a:srgbClr val="6B7280"/>
                </a:solidFill>
                <a:latin typeface="Calibri"/>
              </a:defRPr>
            </a:pPr>
            <a:r>
              <a:t>Department of Computer Science &amp; Engineering • Thapar Institute of Engineering &amp; Technology, Patiala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200"/>
              </a:spcAft>
              <a:defRPr sz="1400" b="1">
                <a:solidFill>
                  <a:srgbClr val="002B49"/>
                </a:solidFill>
                <a:latin typeface="Arial"/>
              </a:defRPr>
            </a:pPr>
            <a:r>
              <a:t>Summary of Lab Eval 1 Accomplishments</a:t>
            </a:r>
          </a:p>
          <a:p>
            <a:pPr>
              <a:spcAft>
                <a:spcPts val="700"/>
              </a:spcAft>
              <a:defRPr sz="1150">
                <a:solidFill>
                  <a:srgbClr val="1F2937"/>
                </a:solidFill>
                <a:latin typeface="Calibri"/>
              </a:defRPr>
            </a:pPr>
            <a:r>
              <a:t>• Demonstrated the viability of reducing 64-channel PSG sleep monitoring to an affordable 2-electrode dry setup.</a:t>
            </a:r>
          </a:p>
          <a:p>
            <a:pPr>
              <a:spcAft>
                <a:spcPts val="700"/>
              </a:spcAft>
              <a:defRPr sz="1150">
                <a:solidFill>
                  <a:srgbClr val="1F2937"/>
                </a:solidFill>
                <a:latin typeface="Calibri"/>
              </a:defRPr>
            </a:pPr>
            <a:r>
              <a:t>• Completed the entire Object-Oriented Analysis &amp; Design (OOAD) phase with complete UML and DFD models.</a:t>
            </a:r>
          </a:p>
          <a:p>
            <a:pPr>
              <a:spcAft>
                <a:spcPts val="700"/>
              </a:spcAft>
              <a:defRPr sz="1150">
                <a:solidFill>
                  <a:srgbClr val="1F2937"/>
                </a:solidFill>
                <a:latin typeface="Calibri"/>
              </a:defRPr>
            </a:pPr>
            <a:r>
              <a:t>• Authored all course documentation strictly adhering to institutional rubrics and plagiarism guidelines.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63040"/>
            <a:ext cx="512064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200"/>
              </a:spcAft>
              <a:defRPr sz="1400" b="1">
                <a:solidFill>
                  <a:srgbClr val="002B49"/>
                </a:solidFill>
                <a:latin typeface="Arial"/>
              </a:defRPr>
            </a:pPr>
            <a:r>
              <a:t>Post-Midterm Roadmap (Weeks 8–17)</a:t>
            </a:r>
          </a:p>
          <a:p>
            <a:pPr>
              <a:spcAft>
                <a:spcPts val="700"/>
              </a:spcAft>
              <a:defRPr sz="1150">
                <a:solidFill>
                  <a:srgbClr val="1F2937"/>
                </a:solidFill>
                <a:latin typeface="Calibri"/>
              </a:defRPr>
            </a:pPr>
            <a:r>
              <a:t>• Weeks 8–11: Hyperparameter tuning of DC-CTA Net cross-temporal attention heads.</a:t>
            </a:r>
          </a:p>
          <a:p>
            <a:pPr>
              <a:spcAft>
                <a:spcPts val="700"/>
              </a:spcAft>
              <a:defRPr sz="1150">
                <a:solidFill>
                  <a:srgbClr val="1F2937"/>
                </a:solidFill>
                <a:latin typeface="Calibri"/>
              </a:defRPr>
            </a:pPr>
            <a:r>
              <a:t>• Weeks 12–14: React web canvas dashboard integration with live WebSocket hypnogram plotting.</a:t>
            </a:r>
          </a:p>
          <a:p>
            <a:pPr>
              <a:spcAft>
                <a:spcPts val="700"/>
              </a:spcAft>
              <a:defRPr sz="1150">
                <a:solidFill>
                  <a:srgbClr val="1F2937"/>
                </a:solidFill>
                <a:latin typeface="Calibri"/>
              </a:defRPr>
            </a:pPr>
            <a:r>
              <a:t>• Weeks 15–16: Automated morning clinical PDF summary compilation and user acceptance testing.</a:t>
            </a:r>
          </a:p>
          <a:p>
            <a:pPr>
              <a:spcAft>
                <a:spcPts val="700"/>
              </a:spcAft>
              <a:defRPr sz="1150">
                <a:solidFill>
                  <a:srgbClr val="1F2937"/>
                </a:solidFill>
                <a:latin typeface="Calibri"/>
              </a:defRPr>
            </a:pPr>
            <a:r>
              <a:t>• Week 17: Final project demonstration, seminar presentation, and EST evaluation.</a:t>
            </a:r>
          </a:p>
          <a:p>
            <a:pPr>
              <a:spcAft>
                <a:spcPts val="700"/>
              </a:spcAft>
              <a:defRPr sz="1150">
                <a:solidFill>
                  <a:srgbClr val="1F2937"/>
                </a:solidFill>
                <a:latin typeface="Calibri"/>
              </a:defRPr>
            </a:pPr>
            <a:r>
              <a:t>• Thank You! We welcome questions from the evaluators.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