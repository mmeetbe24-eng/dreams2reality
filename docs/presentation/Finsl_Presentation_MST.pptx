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2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7F487-1558-4F6C-A54F-E1939F6D7E1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048D0-6CC2-4A20-B435-62EB3A97F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345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048D0-6CC2-4A20-B435-62EB3A97F4E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085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048D0-6CC2-4A20-B435-62EB3A97F4E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41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62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5" y="1"/>
            <a:ext cx="12191695" cy="60468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9531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3900" y="604681"/>
            <a:ext cx="10553395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2B49"/>
                </a:solidFill>
                <a:latin typeface="Calibri"/>
              </a:defRPr>
            </a:pPr>
            <a:r>
              <a:rPr lang="en-IN" sz="3200" dirty="0"/>
              <a:t>             </a:t>
            </a:r>
          </a:p>
          <a:p>
            <a:pPr>
              <a:spcAft>
                <a:spcPts val="400"/>
              </a:spcAft>
              <a:defRPr sz="1300" b="1">
                <a:solidFill>
                  <a:srgbClr val="002B49"/>
                </a:solidFill>
                <a:latin typeface="Calibri"/>
              </a:defRPr>
            </a:pPr>
            <a:r>
              <a:rPr lang="en-IN" sz="3200" dirty="0"/>
              <a:t>     Thapar Institute of Engineering and Technology</a:t>
            </a:r>
          </a:p>
          <a:p>
            <a:pPr>
              <a:spcAft>
                <a:spcPts val="400"/>
              </a:spcAft>
              <a:defRPr sz="1300" b="1">
                <a:solidFill>
                  <a:srgbClr val="002B49"/>
                </a:solidFill>
                <a:latin typeface="Calibri"/>
              </a:defRPr>
            </a:pPr>
            <a:r>
              <a:rPr lang="en-IN" sz="3200" dirty="0"/>
              <a:t>                           • </a:t>
            </a:r>
            <a:r>
              <a:rPr lang="en-IN" sz="2400" dirty="0"/>
              <a:t>UCS503: Software Engineering</a:t>
            </a:r>
          </a:p>
          <a:p>
            <a:pPr>
              <a:spcAft>
                <a:spcPts val="800"/>
              </a:spcAft>
              <a:defRPr sz="3600" b="1">
                <a:solidFill>
                  <a:srgbClr val="002B49"/>
                </a:solidFill>
                <a:latin typeface="Arial"/>
              </a:defRPr>
            </a:pPr>
            <a:endParaRPr lang="en-IN" sz="2000" dirty="0"/>
          </a:p>
          <a:p>
            <a:pPr>
              <a:spcAft>
                <a:spcPts val="800"/>
              </a:spcAft>
              <a:defRPr sz="3600" b="1">
                <a:solidFill>
                  <a:srgbClr val="002B49"/>
                </a:solidFill>
                <a:latin typeface="Arial"/>
              </a:defRPr>
            </a:pPr>
            <a:endParaRPr lang="en-US" sz="1400" dirty="0"/>
          </a:p>
          <a:p>
            <a:pPr>
              <a:spcAft>
                <a:spcPts val="800"/>
              </a:spcAft>
              <a:defRPr sz="3600" b="1">
                <a:solidFill>
                  <a:srgbClr val="002B49"/>
                </a:solidFill>
                <a:latin typeface="Arial"/>
              </a:defRPr>
            </a:pPr>
            <a:endParaRPr sz="2000" dirty="0"/>
          </a:p>
        </p:txBody>
      </p:sp>
      <p:sp>
        <p:nvSpPr>
          <p:cNvPr id="6" name="Rounded Rectangle 5"/>
          <p:cNvSpPr/>
          <p:nvPr/>
        </p:nvSpPr>
        <p:spPr>
          <a:xfrm>
            <a:off x="723900" y="2502027"/>
            <a:ext cx="8658225" cy="41140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E87722"/>
                </a:solidFill>
                <a:latin typeface="Calibri"/>
              </a:defRPr>
            </a:pPr>
            <a:r>
              <a:rPr sz="2800" dirty="0"/>
              <a:t>PROJECT EVALUATION DETAILS (LAB EVAL I)</a:t>
            </a:r>
            <a:endParaRPr lang="en-US" sz="2800" dirty="0"/>
          </a:p>
          <a:p>
            <a:pPr algn="ctr">
              <a:spcAft>
                <a:spcPts val="600"/>
              </a:spcAft>
              <a:defRPr sz="1100" b="1">
                <a:solidFill>
                  <a:srgbClr val="E87722"/>
                </a:solidFill>
                <a:latin typeface="Calibri"/>
              </a:defRPr>
            </a:pPr>
            <a:endParaRPr lang="en-US" sz="2800" dirty="0"/>
          </a:p>
          <a:p>
            <a:pPr algn="ctr">
              <a:spcAft>
                <a:spcPts val="600"/>
              </a:spcAft>
              <a:defRPr sz="1100" b="1">
                <a:solidFill>
                  <a:srgbClr val="E87722"/>
                </a:solidFill>
                <a:latin typeface="Calibri"/>
              </a:defRPr>
            </a:pPr>
            <a:r>
              <a:rPr lang="en-US" sz="1400" dirty="0">
                <a:solidFill>
                  <a:srgbClr val="7030A0"/>
                </a:solidFill>
              </a:rPr>
              <a:t>DREAMS2REALITY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chemeClr val="tx1"/>
                </a:solidFill>
                <a:latin typeface="Bodoni MT" panose="02070603080606020203" pitchFamily="18" charset="0"/>
              </a:rPr>
              <a:t>A Minimalist Two-Electrode System for Real-Time Sleep-Stage and Dream-State Neural Decoding</a:t>
            </a:r>
            <a:endParaRPr sz="1400" dirty="0">
              <a:solidFill>
                <a:schemeClr val="tx1"/>
              </a:solidFill>
              <a:latin typeface="Bodoni MT" panose="02070603080606020203" pitchFamily="18" charset="0"/>
            </a:endParaRP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  <a:latin typeface="Calibri"/>
              </a:defRPr>
            </a:pPr>
            <a:r>
              <a:rPr sz="1400" b="1" dirty="0"/>
              <a:t>Submitted by: </a:t>
            </a:r>
            <a:endParaRPr lang="en-US" sz="1400" b="1" dirty="0"/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  <a:defRPr sz="1200">
                <a:solidFill>
                  <a:srgbClr val="1F2937"/>
                </a:solidFill>
                <a:latin typeface="Calibri"/>
              </a:defRPr>
            </a:pPr>
            <a:r>
              <a:rPr lang="en-IN" sz="1400" dirty="0"/>
              <a:t>    Meet(1024030343)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  <a:defRPr sz="1200">
                <a:solidFill>
                  <a:srgbClr val="1F2937"/>
                </a:solidFill>
                <a:latin typeface="Calibri"/>
              </a:defRPr>
            </a:pPr>
            <a:r>
              <a:rPr lang="en-IN" sz="1400" dirty="0"/>
              <a:t>    Harsh(1024030497)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  <a:defRPr sz="1200">
                <a:solidFill>
                  <a:srgbClr val="1F2937"/>
                </a:solidFill>
                <a:latin typeface="Calibri"/>
              </a:defRPr>
            </a:pPr>
            <a:r>
              <a:rPr lang="en-IN" sz="1400" dirty="0"/>
              <a:t>    Kanav Bhardwaj(1024030395)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  <a:defRPr sz="1200">
                <a:solidFill>
                  <a:srgbClr val="1F2937"/>
                </a:solidFill>
                <a:latin typeface="Calibri"/>
              </a:defRPr>
            </a:pPr>
            <a:r>
              <a:rPr lang="en-IN" sz="1400" dirty="0"/>
              <a:t>    Yukti Saklani(1024030392)</a:t>
            </a:r>
            <a:endParaRPr lang="en-US" sz="1400" dirty="0"/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  <a:latin typeface="Calibri"/>
              </a:defRPr>
            </a:pPr>
            <a:r>
              <a:rPr sz="1400" b="1" dirty="0"/>
              <a:t>Academic Class</a:t>
            </a:r>
            <a:r>
              <a:rPr sz="1400" dirty="0"/>
              <a:t>: B.E. Third Year, Computer Engineering </a:t>
            </a:r>
            <a:endParaRPr lang="en-US" sz="1400" dirty="0"/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  <a:latin typeface="Calibri"/>
              </a:defRPr>
            </a:pPr>
            <a:r>
              <a:rPr sz="1400" b="1" dirty="0"/>
              <a:t>Group No</a:t>
            </a:r>
            <a:r>
              <a:rPr sz="1400" dirty="0"/>
              <a:t>: </a:t>
            </a:r>
            <a:r>
              <a:rPr lang="en-US" sz="1400" dirty="0"/>
              <a:t>3C25</a:t>
            </a:r>
            <a:endParaRPr sz="1400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  <a:latin typeface="Calibri"/>
              </a:defRPr>
            </a:pPr>
            <a:r>
              <a:rPr sz="1400" b="1" dirty="0"/>
              <a:t>Submitted to</a:t>
            </a:r>
            <a:r>
              <a:rPr sz="1400" dirty="0"/>
              <a:t>: </a:t>
            </a:r>
            <a:r>
              <a:rPr lang="en-US" sz="1400" dirty="0"/>
              <a:t>Dr. Stuti Chug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  <a:latin typeface="Calibri"/>
              </a:defRPr>
            </a:pPr>
            <a:r>
              <a:rPr sz="1400" b="1" dirty="0"/>
              <a:t>Academic Session</a:t>
            </a:r>
            <a:r>
              <a:rPr sz="1400" dirty="0"/>
              <a:t>: August – December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9E7BA8-B372-4F69-A2FA-A1089EA0A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7989" y="985681"/>
            <a:ext cx="1219306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905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bIns="0" rtlCol="0" anchor="ctr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Clinical Context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6245" y="1797176"/>
            <a:ext cx="5120640" cy="42531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rPr sz="2000" dirty="0"/>
              <a:t>The Clinical Problem in Sleep </a:t>
            </a:r>
            <a:r>
              <a:rPr lang="en-US" sz="2000" dirty="0"/>
              <a:t>State</a:t>
            </a:r>
            <a:endParaRPr sz="2000" dirty="0"/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Over 30% of adults suffer from chronic sleep disorders, parasomnias, and PTSD nightmares.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</a:t>
            </a:r>
            <a:r>
              <a:rPr lang="en-US" sz="1400" dirty="0"/>
              <a:t>Available Technology to evaluate</a:t>
            </a:r>
            <a:r>
              <a:rPr sz="1400" dirty="0"/>
              <a:t>: Today, doctors rely solely on patient memory after waking up, which suffers from severe memory loss and emotional bias.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Lack of Objective Data: No hospital system tracks real-time dream distress spikes as they happen during the night.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73376"/>
            <a:ext cx="5120640" cy="427215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rPr lang="en-US" sz="2000" dirty="0"/>
              <a:t>Current Issues</a:t>
            </a:r>
            <a:r>
              <a:rPr sz="2000" dirty="0"/>
              <a:t> &amp; Our Fix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Hospital PSG is Invasive: Uses 32–128 wet electrodes, messy paste, takes 45 mins setup, and costs &gt; $15,000.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The 'First-Night Effect': Patients cannot sleep naturally with 64 wires on their head, ruining genuine dream cycles.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Dreams2Reality Engineering Solution: Reduces 64 wet channels to just 2 dry temporal electrodes (T7–T8).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Zero-gel, &lt; 1 min setup, enabling natural sleep with real-time neural decoding.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905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bIns="0" rtlCol="0" anchor="ctr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Software Development Life Cycle (SDLC): Agile </a:t>
            </a:r>
            <a:r>
              <a:rPr dirty="0" err="1"/>
              <a:t>Scrum</a:t>
            </a:r>
            <a:r>
              <a:rPr lang="en-US" dirty="0" err="1"/>
              <a:t>af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1" y="219456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rPr sz="2000" dirty="0"/>
              <a:t>Why Agile / Scrum for </a:t>
            </a:r>
            <a:r>
              <a:rPr sz="1600" dirty="0"/>
              <a:t>Dreams2Reality?</a:t>
            </a:r>
            <a:endParaRPr sz="1400" dirty="0"/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Iterative Signal Tuning: Digital filter cutoffs (0.5–45 Hz) and neural attention weights require continuous experimental validation.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Decoupled Component Sprints: Allows parallel development of the Telemetry Streamer, Preprocessor, ML Engine, and Web UI.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Course Schedule Alignment: 2-week sprint cycles directly match the TIET UCS503 15-week academic calendar milestones</a:t>
            </a:r>
            <a:r>
              <a:rPr sz="16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219456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rPr sz="2000" dirty="0"/>
              <a:t>Sprint Breakdown &amp; Laboratory Roadmap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Sprint 1 (Weeks 1–3): Problem definition, domain research on PSG bottlenecks, toolchain setup.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Sprint 2 (Weeks 4–5): IEEE SRS formalization, </a:t>
            </a:r>
            <a:r>
              <a:rPr sz="1400" dirty="0" err="1"/>
              <a:t>PhysioNet</a:t>
            </a:r>
            <a:r>
              <a:rPr sz="1400" dirty="0"/>
              <a:t> Sleep-</a:t>
            </a:r>
            <a:r>
              <a:rPr sz="1400" dirty="0" err="1"/>
              <a:t>EDFx</a:t>
            </a:r>
            <a:r>
              <a:rPr sz="1400" dirty="0"/>
              <a:t> ingestion, Butterworth IIR filter.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Sprint 3 (Weeks 6–7): UML Object-Oriented Modeling, Euclidean Alignment, and Lab Eval 1 Documentation.</a:t>
            </a:r>
            <a:r>
              <a:rPr lang="en-US" sz="1400" b="1" dirty="0"/>
              <a:t>(CURRENTLY COMPLETED).</a:t>
            </a:r>
            <a:endParaRPr sz="1400" b="1" dirty="0"/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Sprint 4 (Weeks 8–12): Attention network refinement, Hall-Van de Castle narrative generation.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Sprint 5 (Weeks 13–17): Final dashboard integration, stress testing, and seminar presentation.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F5C05A-DF18-4A07-9211-2422C75802BC}"/>
              </a:ext>
            </a:extLst>
          </p:cNvPr>
          <p:cNvSpPr/>
          <p:nvPr/>
        </p:nvSpPr>
        <p:spPr>
          <a:xfrm>
            <a:off x="731520" y="1143762"/>
            <a:ext cx="10944225" cy="95859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AGILE</a:t>
            </a:r>
            <a:r>
              <a:rPr lang="en-US" dirty="0">
                <a:solidFill>
                  <a:schemeClr val="tx1"/>
                </a:solidFill>
              </a:rPr>
              <a:t>-&gt;A methodology in which whole project is divided into in to short , flexible  cycles to complete work piece by piece.</a:t>
            </a:r>
            <a:r>
              <a:rPr lang="en-IN" b="1" dirty="0">
                <a:solidFill>
                  <a:schemeClr val="tx1"/>
                </a:solidFill>
              </a:rPr>
              <a:t>SCRUM</a:t>
            </a:r>
            <a:r>
              <a:rPr lang="en-IN" dirty="0">
                <a:solidFill>
                  <a:schemeClr val="tx1"/>
                </a:solidFill>
              </a:rPr>
              <a:t>-&gt;A framework used here to implement agile methodology in which cycles or blocks are divided into cycles(2-3 weeks long).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bIns="0" rtlCol="0" anchor="ctr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High-Level Software Architecture &amp; Flow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8120" y="2176272"/>
            <a:ext cx="2377440" cy="327850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rPr dirty="0"/>
              <a:t>1. Ingestion</a:t>
            </a:r>
          </a:p>
          <a:p>
            <a:pPr>
              <a:spcAft>
                <a:spcPts val="1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rPr dirty="0"/>
              <a:t>Simulates 128 Hz dual-channel (T7-T8) telemetry</a:t>
            </a:r>
            <a:r>
              <a:rPr lang="en-US" dirty="0"/>
              <a:t> channel(act as a conductor which loads </a:t>
            </a:r>
            <a:r>
              <a:rPr lang="en-US" dirty="0" err="1"/>
              <a:t>data,supervise</a:t>
            </a:r>
            <a:r>
              <a:rPr lang="en-US" dirty="0"/>
              <a:t> it and export report pdf in morning)</a:t>
            </a:r>
            <a:r>
              <a:rPr dirty="0"/>
              <a:t> from </a:t>
            </a:r>
            <a:r>
              <a:rPr dirty="0" err="1"/>
              <a:t>PhysioNet</a:t>
            </a:r>
            <a:r>
              <a:rPr dirty="0"/>
              <a:t> Sleep-</a:t>
            </a:r>
            <a:r>
              <a:rPr dirty="0" err="1"/>
              <a:t>EDFx</a:t>
            </a:r>
            <a:r>
              <a:rPr dirty="0"/>
              <a:t> records.</a:t>
            </a:r>
          </a:p>
          <a:p>
            <a:pPr>
              <a:defRPr sz="950" b="1">
                <a:solidFill>
                  <a:srgbClr val="E87722"/>
                </a:solidFill>
                <a:latin typeface="Calibri"/>
              </a:defRPr>
            </a:pPr>
            <a:r>
              <a:rPr dirty="0"/>
              <a:t>Technology Stack:</a:t>
            </a:r>
          </a:p>
          <a:p>
            <a:pPr>
              <a:defRPr sz="1050">
                <a:solidFill>
                  <a:srgbClr val="1F2937"/>
                </a:solidFill>
                <a:latin typeface="Calibri"/>
              </a:defRPr>
            </a:pPr>
            <a:r>
              <a:rPr dirty="0" err="1"/>
              <a:t>FastAPI</a:t>
            </a:r>
            <a:r>
              <a:rPr dirty="0"/>
              <a:t> &amp; </a:t>
            </a:r>
            <a:r>
              <a:rPr dirty="0" err="1"/>
              <a:t>WebSockets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421380" y="2195322"/>
            <a:ext cx="2377440" cy="32053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rPr dirty="0"/>
              <a:t>2. Preprocessing</a:t>
            </a:r>
          </a:p>
          <a:p>
            <a:pPr>
              <a:spcAft>
                <a:spcPts val="1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rPr dirty="0"/>
              <a:t>4th-order zero-phase Butterworth bandpass</a:t>
            </a:r>
            <a:r>
              <a:rPr lang="en-US" dirty="0"/>
              <a:t> filter:</a:t>
            </a:r>
            <a:r>
              <a:rPr dirty="0"/>
              <a:t> (0.5-45 Hz) + </a:t>
            </a:r>
            <a:r>
              <a:rPr lang="en-US" dirty="0"/>
              <a:t>notch filter:</a:t>
            </a:r>
            <a:r>
              <a:rPr dirty="0"/>
              <a:t>50 Hz notch; artifact rejection (&gt; 250uV).</a:t>
            </a:r>
          </a:p>
          <a:p>
            <a:pPr>
              <a:defRPr sz="950" b="1">
                <a:solidFill>
                  <a:srgbClr val="E87722"/>
                </a:solidFill>
                <a:latin typeface="Calibri"/>
              </a:defRPr>
            </a:pPr>
            <a:r>
              <a:rPr dirty="0"/>
              <a:t>Technology Stack:</a:t>
            </a:r>
          </a:p>
          <a:p>
            <a:pPr>
              <a:defRPr sz="1050">
                <a:solidFill>
                  <a:srgbClr val="1F2937"/>
                </a:solidFill>
                <a:latin typeface="Calibri"/>
              </a:defRPr>
            </a:pPr>
            <a:r>
              <a:rPr dirty="0"/>
              <a:t>SciPy &amp; NumPy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45580" y="2122169"/>
            <a:ext cx="2377440" cy="327850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3. ML Engine</a:t>
            </a:r>
          </a:p>
          <a:p>
            <a:pPr>
              <a:spcAft>
                <a:spcPts val="1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</a:rPr>
              <a:t>Extracts Differential Entropy (DE), DASM/RASM; Euclidean Alignment (EA); DC-CTA Net inference.</a:t>
            </a:r>
          </a:p>
          <a:p>
            <a:pPr>
              <a:defRPr sz="950" b="1">
                <a:solidFill>
                  <a:srgbClr val="E87722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</a:rPr>
              <a:t>Technology Stack:</a:t>
            </a:r>
          </a:p>
          <a:p>
            <a:pPr>
              <a:defRPr sz="1050">
                <a:solidFill>
                  <a:srgbClr val="1F2937"/>
                </a:solidFill>
                <a:latin typeface="Calibri"/>
              </a:defRPr>
            </a:pPr>
            <a:r>
              <a:rPr dirty="0" err="1">
                <a:solidFill>
                  <a:schemeClr val="tx1"/>
                </a:solidFill>
              </a:rPr>
              <a:t>PyTorch</a:t>
            </a:r>
            <a:r>
              <a:rPr dirty="0">
                <a:solidFill>
                  <a:schemeClr val="tx1"/>
                </a:solidFill>
              </a:rPr>
              <a:t> &amp; MNE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16440" y="2122170"/>
            <a:ext cx="2377440" cy="327850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rPr dirty="0"/>
              <a:t>4. Clinical UI</a:t>
            </a:r>
          </a:p>
          <a:p>
            <a:pPr>
              <a:spcAft>
                <a:spcPts val="1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rPr dirty="0"/>
              <a:t>Displays 60 FPS live waves, real-time hypnogram, bedside nightmare alerts, and morning PDF.</a:t>
            </a:r>
          </a:p>
          <a:p>
            <a:pPr>
              <a:defRPr sz="950" b="1">
                <a:solidFill>
                  <a:srgbClr val="E87722"/>
                </a:solidFill>
                <a:latin typeface="Calibri"/>
              </a:defRPr>
            </a:pPr>
            <a:r>
              <a:rPr dirty="0"/>
              <a:t>Technology Stack:</a:t>
            </a:r>
          </a:p>
          <a:p>
            <a:pPr>
              <a:defRPr sz="1050">
                <a:solidFill>
                  <a:srgbClr val="1F2937"/>
                </a:solidFill>
                <a:latin typeface="Calibri"/>
              </a:defRPr>
            </a:pPr>
            <a:r>
              <a:rPr dirty="0"/>
              <a:t>React &amp; Canvas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DCE0756-B887-4C28-866C-50F499DCC026}"/>
              </a:ext>
            </a:extLst>
          </p:cNvPr>
          <p:cNvSpPr/>
          <p:nvPr/>
        </p:nvSpPr>
        <p:spPr>
          <a:xfrm>
            <a:off x="2676525" y="3619594"/>
            <a:ext cx="533400" cy="28365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BC54589-3F4E-40B7-9FF9-DB26B093350B}"/>
              </a:ext>
            </a:extLst>
          </p:cNvPr>
          <p:cNvSpPr/>
          <p:nvPr/>
        </p:nvSpPr>
        <p:spPr>
          <a:xfrm>
            <a:off x="5915025" y="3620547"/>
            <a:ext cx="514350" cy="316802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05A7DA9-ECBA-4E8E-A7DC-ECF174B6DCC7}"/>
              </a:ext>
            </a:extLst>
          </p:cNvPr>
          <p:cNvSpPr/>
          <p:nvPr/>
        </p:nvSpPr>
        <p:spPr>
          <a:xfrm>
            <a:off x="8981122" y="3630833"/>
            <a:ext cx="577215" cy="369381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bIns="0" rtlCol="0" anchor="ctr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UML Use Case Diagram &amp; Actor-System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63040"/>
            <a:ext cx="658368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rPr sz="2400" dirty="0"/>
              <a:t>Key Architectural Elements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endParaRPr lang="en-US" sz="1200" dirty="0"/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Primary Actors: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  - Sleeper / Telemetry Stream: Ingests 128 Hz data.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  - Clinical Neurologist: Monitors live hypnograms, handles alerts, exports morning summaries.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  - System Admin: Calibrates baseline filters.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Core Relationships: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  - UC-01 &lt;&lt;include&gt;&gt; UC-02 (Noise filtering is mandatory for ingestion).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  - UC-04 &lt;&lt;extend&gt;&gt; UC-05 (Nightmare alert triggers only when distress threshold is breached).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bIns="0" rtlCol="0" anchor="ctr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UML Activity Diagram: 4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46488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rPr lang="en-US" dirty="0"/>
              <a:t>\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269149" y="1323218"/>
            <a:ext cx="3840480" cy="553478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rPr sz="2400" dirty="0"/>
              <a:t>Key Architectural Elements</a:t>
            </a:r>
            <a:endParaRPr lang="en-US" sz="2400" dirty="0"/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• Lane 1: Dataset Streamer - Reads calibrated Sleep-</a:t>
            </a:r>
            <a:r>
              <a:rPr sz="1600" dirty="0" err="1"/>
              <a:t>EDFx</a:t>
            </a:r>
            <a:r>
              <a:rPr sz="1600" dirty="0"/>
              <a:t> EDF files; streams packets over </a:t>
            </a:r>
            <a:r>
              <a:rPr sz="1600" dirty="0" err="1"/>
              <a:t>WebSockets</a:t>
            </a:r>
            <a:r>
              <a:rPr sz="1600" dirty="0"/>
              <a:t>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• Lane 2: Signal Preprocessor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•   - Bandpass (0.5-45 Hz) &amp; 50 Hz notch; discards motion artifacts (&gt; 250uV).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• Lane 3: ML Brain Engine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•   - Calculates Differential Entropy; Euclidean Alignment; DC-CTA Net classification.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• Lane 4: Clinical Web UI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•   - Real-time hypnogram; trauma alarm evaluation; morning PDF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6C543B-8B65-4DA3-A4BC-558633F35D94}"/>
              </a:ext>
            </a:extLst>
          </p:cNvPr>
          <p:cNvSpPr/>
          <p:nvPr/>
        </p:nvSpPr>
        <p:spPr>
          <a:xfrm>
            <a:off x="305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bIns="0" rtlCol="0" anchor="ctr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UML Activity Diagram: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97DC6A-23B6-4C43-A9DF-B4F4797DCE12}"/>
              </a:ext>
            </a:extLst>
          </p:cNvPr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ctivity_diagram_flowchart.png">
            <a:extLst>
              <a:ext uri="{FF2B5EF4-FFF2-40B4-BE49-F238E27FC236}">
                <a16:creationId xmlns:a16="http://schemas.microsoft.com/office/drawing/2014/main" id="{13D4E198-9AEF-4E79-8FB6-54063545A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4712"/>
            <a:ext cx="12191695" cy="55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93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bIns="0" rtlCol="0" anchor="ctr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endParaRPr dirty="0"/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UML Object-Oriente</a:t>
            </a:r>
            <a:r>
              <a:rPr lang="en-US" dirty="0"/>
              <a:t>d</a:t>
            </a:r>
            <a:r>
              <a:rPr dirty="0"/>
              <a:t> Class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50545" y="1742875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rPr sz="2000" dirty="0"/>
              <a:t>Key Architectural Elements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Core Software Entities: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</a:t>
            </a:r>
            <a:r>
              <a:rPr sz="1200" dirty="0" err="1"/>
              <a:t>EEGStreamer</a:t>
            </a:r>
            <a:r>
              <a:rPr sz="1200" dirty="0"/>
              <a:t>: Telemetry packet assembly &amp; socket control.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</a:t>
            </a:r>
            <a:r>
              <a:rPr sz="1200" dirty="0" err="1"/>
              <a:t>SignalPreprocessor</a:t>
            </a:r>
            <a:r>
              <a:rPr sz="1200" dirty="0"/>
              <a:t>: Digital IIR filtering and sliding windowing.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</a:t>
            </a:r>
            <a:r>
              <a:rPr sz="1200" dirty="0" err="1"/>
              <a:t>FeatureExtractor</a:t>
            </a:r>
            <a:r>
              <a:rPr sz="1200" dirty="0"/>
              <a:t>: Computes Welch PSD, DE, and DASM/RASM.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</a:t>
            </a:r>
            <a:r>
              <a:rPr sz="1200" dirty="0" err="1"/>
              <a:t>EuclideanAligner</a:t>
            </a:r>
            <a:r>
              <a:rPr sz="1200" dirty="0"/>
              <a:t>: Standardizes spatial covariance across skulls.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</a:t>
            </a:r>
            <a:r>
              <a:rPr sz="1200" dirty="0" err="1"/>
              <a:t>DCTANetClassifier</a:t>
            </a:r>
            <a:r>
              <a:rPr sz="1200" dirty="0"/>
              <a:t>: </a:t>
            </a:r>
            <a:r>
              <a:rPr sz="1200" dirty="0" err="1"/>
              <a:t>PyTorch</a:t>
            </a:r>
            <a:r>
              <a:rPr sz="1200" dirty="0"/>
              <a:t> Cross-Temporal Attention Network.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</a:t>
            </a:r>
            <a:r>
              <a:rPr sz="1200" dirty="0" err="1"/>
              <a:t>DreamState</a:t>
            </a:r>
            <a:r>
              <a:rPr sz="1200" dirty="0"/>
              <a:t>: Value object storing stage, valence, and </a:t>
            </a:r>
            <a:r>
              <a:rPr sz="1200" dirty="0" err="1"/>
              <a:t>HVdC</a:t>
            </a:r>
            <a:r>
              <a:rPr sz="1200" dirty="0"/>
              <a:t> theme.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</a:t>
            </a:r>
            <a:r>
              <a:rPr sz="1200" dirty="0" err="1"/>
              <a:t>TelemetryController</a:t>
            </a:r>
            <a:r>
              <a:rPr sz="1200" dirty="0"/>
              <a:t>: Manages clinical sessions &amp; alerts.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8C0CEF-3FA1-4B84-A4F2-E18D90CD9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534" y="1742875"/>
            <a:ext cx="7056732" cy="5010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bIns="0" rtlCol="0" anchor="ctr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Data Flow Diagrams: Level 0 (Context) &amp; Level 1 (Modular)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f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6878320" cy="51998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rPr sz="2000" dirty="0"/>
              <a:t>Key Architectural Elements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dirty="0"/>
              <a:t>• </a:t>
            </a:r>
            <a:r>
              <a:rPr sz="1200" dirty="0"/>
              <a:t>DFD Level 0 (Context):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Data Source: Sleep-E</a:t>
            </a:r>
            <a:r>
              <a:rPr lang="en-US" sz="1200" dirty="0"/>
              <a:t>  </a:t>
            </a:r>
            <a:r>
              <a:rPr sz="1200" dirty="0" err="1"/>
              <a:t>DFx</a:t>
            </a:r>
            <a:r>
              <a:rPr sz="1200" dirty="0"/>
              <a:t> Playback Streamer feeds raw 128 Hz EEG.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Central Process: 0.0 Dreams2Reality BCI Platform.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Data Sinks: Clinical Neurologist (live telemetry &amp; alerts) and EHR Database.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DFD Level 1 (Modular):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 Decomposes into 5 functional processes (1.0 to 5.0).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rPr sz="1200" dirty="0"/>
              <a:t>•Data Stores: D1 Raw Buffer, D2 Filter Configs, D3 Riemannian Manifold, D4 Model Weights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47CC47-5AB2-4772-9A7D-0D6DCD58E575}"/>
              </a:ext>
            </a:extLst>
          </p:cNvPr>
          <p:cNvSpPr/>
          <p:nvPr/>
        </p:nvSpPr>
        <p:spPr>
          <a:xfrm>
            <a:off x="0" y="-52578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bIns="0" rtlCol="0" anchor="ctr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Data Flow Diagrams: Level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01829E-3489-400A-A856-D2A456DEF503}"/>
              </a:ext>
            </a:extLst>
          </p:cNvPr>
          <p:cNvSpPr/>
          <p:nvPr/>
        </p:nvSpPr>
        <p:spPr>
          <a:xfrm>
            <a:off x="305" y="489204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CD461-E11A-4481-ABE2-2244D36F9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50240"/>
            <a:ext cx="10038080" cy="613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1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bIns="0" rtlCol="0" anchor="ctr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Algorithmic Formulation: Channel Selection &amp; Covariance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rPr sz="2000" dirty="0"/>
              <a:t>ANOVA F-Score Channel Reduction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Statistical Feature Ranking: Applied </a:t>
            </a:r>
            <a:r>
              <a:rPr sz="1400" dirty="0" err="1"/>
              <a:t>SelectKBest</a:t>
            </a:r>
            <a:r>
              <a:rPr sz="1400" dirty="0"/>
              <a:t> across all 64 standard 10-20 scalp electrode positions.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Bilateral Temporal Optimality: Proved that temporal channels T7 and T8 achieve the highest F-statistic </a:t>
            </a:r>
            <a:r>
              <a:rPr lang="en-US" sz="1400" dirty="0"/>
              <a:t>score </a:t>
            </a:r>
            <a:r>
              <a:rPr sz="1400" dirty="0"/>
              <a:t>for separating REM dream mentation from delta slow waves.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Scientific Validation: Empirically justifies eliminating 62 wet channels down to a comfortable 2-electrode dry setup.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842" y="1463040"/>
            <a:ext cx="5120640" cy="46634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rPr sz="2000" dirty="0"/>
              <a:t>Euclidean Covariance Alignment (EA)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Solving Skull Impedance Drift: Inter-subject skull bone thickness causes signal drift across different patients.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Riemannian Covariance Projection: Standardizes spatial covariance matrix Ci using reference geometric mean R:  </a:t>
            </a:r>
            <a:r>
              <a:rPr sz="1400" dirty="0" err="1"/>
              <a:t>Ci_norm</a:t>
            </a:r>
            <a:r>
              <a:rPr sz="1400" dirty="0"/>
              <a:t> = R^(-1/2) * Ci * R^(-1/2).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rPr sz="1400" dirty="0"/>
              <a:t>• Zero-Shot Generalization: Delivers &gt; 70% classification accuracy on unseen subjects without per-user retraining.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1143</Words>
  <Application>Microsoft Office PowerPoint</Application>
  <PresentationFormat>Widescreen</PresentationFormat>
  <Paragraphs>114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Bodoni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2026-09-07T02:23:09Z</dcterms:modified>
  <cp:category/>
</cp:coreProperties>
</file>